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5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6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vezetés" id="{0cfab8b6-7c84-864d-9084-f4e3f051288b}">
          <p14:sldIdLst>
            <p14:sldId id="256"/>
            <p14:sldId id="257"/>
            <p14:sldId id="258"/>
          </p14:sldIdLst>
        </p14:section>
        <p14:section name="1. Európai keret" id="{7f6adf57-9846-ef9e-5134-4a6716172622}">
          <p14:sldIdLst>
            <p14:sldId id="259"/>
            <p14:sldId id="260"/>
            <p14:sldId id="261"/>
            <p14:sldId id="262"/>
            <p14:sldId id="263"/>
          </p14:sldIdLst>
        </p14:section>
        <p14:section name="2. Olaszország" id="{539ab069-8b97-577a-542a-3b6028f0a499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3. Magyarország" id="{51b96546-5daf-ea4b-be0e-56865ab51b99}">
          <p14:sldIdLst>
            <p14:sldId id="278"/>
            <p14:sldId id="279"/>
            <p14:sldId id="280"/>
            <p14:sldId id="281"/>
          </p14:sldIdLst>
        </p14:section>
        <p14:section name="4. Európai összehasonlítás" id="{4634e6a8-e4a5-9ff7-b327-d6b3a49d538e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5. Összegzés" id="{6c49f226-9deb-8aff-2d40-e8f8c50401c4}">
          <p14:sldIdLst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C2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C24"/>
                </a:solidFill>
                <a:latin typeface="+mj-lt"/>
              </a:rPr>
              <a:t>Zsidó áldozatok száma táboronként (fő)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Zsidó áldozatok</c:v>
                </c:pt>
              </c:strCache>
            </c:strRef>
          </c:tx>
          <c:spPr>
            <a:solidFill>
              <a:srgbClr val="8B1E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Auschwitz-Birkenau</c:v>
                  </c:pt>
                  <c:pt idx="1">
                    <c:v>Treblinka</c:v>
                  </c:pt>
                  <c:pt idx="2">
                    <c:v>Bełżec</c:v>
                  </c:pt>
                  <c:pt idx="3">
                    <c:v>Sobibór</c:v>
                  </c:pt>
                  <c:pt idx="4">
                    <c:v>Chełmno</c:v>
                  </c:pt>
                  <c:pt idx="5">
                    <c:v>Majdanek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960000</c:v>
                </c:pt>
                <c:pt idx="1">
                  <c:v>870000</c:v>
                </c:pt>
                <c:pt idx="2">
                  <c:v>434000</c:v>
                </c:pt>
                <c:pt idx="3">
                  <c:v>170000</c:v>
                </c:pt>
                <c:pt idx="4">
                  <c:v>152000</c:v>
                </c:pt>
                <c:pt idx="5">
                  <c:v>59000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C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C2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C24"/>
                </a:solidFill>
                <a:latin typeface="+mj-lt"/>
              </a:rPr>
              <a:t>Név szerint azonosított deportáltak (fő)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Nem tért vissza</c:v>
                </c:pt>
              </c:strCache>
            </c:strRef>
          </c:tx>
          <c:spPr>
            <a:solidFill>
              <a:srgbClr val="8B1E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Olasz félsziget</c:v>
                  </c:pt>
                  <c:pt idx="1">
                    <c:v>Dodekanészosz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5969</c:v>
                </c:pt>
                <c:pt idx="1">
                  <c:v>1640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Túlélte, hazatért</c:v>
                </c:pt>
              </c:strCache>
            </c:strRef>
          </c:tx>
          <c:spPr>
            <a:solidFill>
              <a:srgbClr val="B08D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Olasz félsziget</c:v>
                  </c:pt>
                  <c:pt idx="1">
                    <c:v>Dodekanészosz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837</c:v>
                </c:pt>
                <c:pt idx="1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1C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1C2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C1C24"/>
                </a:solidFill>
                <a:latin typeface="+mj-lt"/>
              </a:rPr>
              <a:t>~39 000 zsidó német ellenőrzés alatt (1943)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Német ellenőrzés alatti zsidók sorsa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1E1E"/>
              </a:solidFill>
              <a:effectLst/>
            </c:spPr>
          </c:dPt>
          <c:dPt>
            <c:idx val="1"/>
            <c:bubble3D val="0"/>
            <c:spPr>
              <a:solidFill>
                <a:srgbClr val="D9DC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1C2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1C2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Deportálták vagy Olaszországban megölték</c:v>
                </c:pt>
                <c:pt idx="1">
                  <c:v>Elkerülte a deportálást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7800</c:v>
                </c:pt>
                <c:pt idx="1">
                  <c:v>31200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C1C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Áldozatok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C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8D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8B1E1E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Lengyelország</c:v>
                  </c:pt>
                  <c:pt idx="1">
                    <c:v>Szovjetunió (megszállt ter.)</c:v>
                  </c:pt>
                  <c:pt idx="2">
                    <c:v>Magyarország</c:v>
                  </c:pt>
                  <c:pt idx="3">
                    <c:v>Románia</c:v>
                  </c:pt>
                  <c:pt idx="4">
                    <c:v>Litvánia</c:v>
                  </c:pt>
                  <c:pt idx="5">
                    <c:v>Németország</c:v>
                  </c:pt>
                  <c:pt idx="6">
                    <c:v>Hollandia</c:v>
                  </c:pt>
                  <c:pt idx="7">
                    <c:v>Cseh–Morva Protektorátus</c:v>
                  </c:pt>
                  <c:pt idx="8">
                    <c:v>Franciaország</c:v>
                  </c:pt>
                  <c:pt idx="9">
                    <c:v>Lettország</c:v>
                  </c:pt>
                  <c:pt idx="10">
                    <c:v>Szlovákia</c:v>
                  </c:pt>
                  <c:pt idx="11">
                    <c:v>Jugoszlávia</c:v>
                  </c:pt>
                  <c:pt idx="12">
                    <c:v>Görögország</c:v>
                  </c:pt>
                  <c:pt idx="13">
                    <c:v>Ausztria</c:v>
                  </c:pt>
                  <c:pt idx="14">
                    <c:v>Belgium</c:v>
                  </c:pt>
                  <c:pt idx="15">
                    <c:v>Olaszország</c:v>
                  </c:pt>
                  <c:pt idx="16">
                    <c:v>Norvégia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3000000</c:v>
                </c:pt>
                <c:pt idx="1">
                  <c:v>1000000</c:v>
                </c:pt>
                <c:pt idx="2">
                  <c:v>565000</c:v>
                </c:pt>
                <c:pt idx="3">
                  <c:v>330000</c:v>
                </c:pt>
                <c:pt idx="4">
                  <c:v>195000</c:v>
                </c:pt>
                <c:pt idx="5">
                  <c:v>165000</c:v>
                </c:pt>
                <c:pt idx="6">
                  <c:v>102000</c:v>
                </c:pt>
                <c:pt idx="7">
                  <c:v>78000</c:v>
                </c:pt>
                <c:pt idx="8">
                  <c:v>77000</c:v>
                </c:pt>
                <c:pt idx="9">
                  <c:v>70000</c:v>
                </c:pt>
                <c:pt idx="10">
                  <c:v>69000</c:v>
                </c:pt>
                <c:pt idx="11">
                  <c:v>66000</c:v>
                </c:pt>
                <c:pt idx="12">
                  <c:v>65000</c:v>
                </c:pt>
                <c:pt idx="13">
                  <c:v>65000</c:v>
                </c:pt>
                <c:pt idx="14">
                  <c:v>25000</c:v>
                </c:pt>
                <c:pt idx="15">
                  <c:v>7700</c:v>
                </c:pt>
                <c:pt idx="16">
                  <c:v>760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C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0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Arány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08D5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8B1E1E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Sheet1!$A$2:$A$19</c:f>
              <c:multiLvlStrCache>
                <c:ptCount val="18"/>
                <c:lvl>
                  <c:pt idx="0">
                    <c:v>Lengyelország</c:v>
                  </c:pt>
                  <c:pt idx="1">
                    <c:v>Litvánia</c:v>
                  </c:pt>
                  <c:pt idx="2">
                    <c:v>Görögország</c:v>
                  </c:pt>
                  <c:pt idx="3">
                    <c:v>Jugoszlávia</c:v>
                  </c:pt>
                  <c:pt idx="4">
                    <c:v>Szlovákia</c:v>
                  </c:pt>
                  <c:pt idx="5">
                    <c:v>Lettország</c:v>
                  </c:pt>
                  <c:pt idx="6">
                    <c:v>Hollandia</c:v>
                  </c:pt>
                  <c:pt idx="7">
                    <c:v>Magyarország</c:v>
                  </c:pt>
                  <c:pt idx="8">
                    <c:v>Cseh–Morva</c:v>
                  </c:pt>
                  <c:pt idx="9">
                    <c:v>Románia</c:v>
                  </c:pt>
                  <c:pt idx="10">
                    <c:v>Belgium</c:v>
                  </c:pt>
                  <c:pt idx="11">
                    <c:v>Norvégia</c:v>
                  </c:pt>
                  <c:pt idx="12">
                    <c:v>Ausztria</c:v>
                  </c:pt>
                  <c:pt idx="13">
                    <c:v>Németország</c:v>
                  </c:pt>
                  <c:pt idx="14">
                    <c:v>Franciaország</c:v>
                  </c:pt>
                  <c:pt idx="15">
                    <c:v>Olaszország</c:v>
                  </c:pt>
                  <c:pt idx="16">
                    <c:v>Dánia</c:v>
                  </c:pt>
                  <c:pt idx="17">
                    <c:v>Bulgária (régi ter.)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90</c:v>
                </c:pt>
                <c:pt idx="1">
                  <c:v>90</c:v>
                </c:pt>
                <c:pt idx="2">
                  <c:v>84</c:v>
                </c:pt>
                <c:pt idx="3">
                  <c:v>82</c:v>
                </c:pt>
                <c:pt idx="4">
                  <c:v>77</c:v>
                </c:pt>
                <c:pt idx="5">
                  <c:v>75</c:v>
                </c:pt>
                <c:pt idx="6">
                  <c:v>73</c:v>
                </c:pt>
                <c:pt idx="7">
                  <c:v>69</c:v>
                </c:pt>
                <c:pt idx="8">
                  <c:v>66</c:v>
                </c:pt>
                <c:pt idx="9">
                  <c:v>44</c:v>
                </c:pt>
                <c:pt idx="10">
                  <c:v>40</c:v>
                </c:pt>
                <c:pt idx="11">
                  <c:v>36</c:v>
                </c:pt>
                <c:pt idx="12">
                  <c:v>35</c:v>
                </c:pt>
                <c:pt idx="13">
                  <c:v>29</c:v>
                </c:pt>
                <c:pt idx="14">
                  <c:v>22</c:v>
                </c:pt>
                <c:pt idx="15">
                  <c:v>16</c:v>
                </c:pt>
                <c:pt idx="16">
                  <c:v>1</c:v>
                </c:pt>
                <c:pt idx="17">
                  <c:v>0.5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1C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Világ Igazai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C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08D5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1E1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Lengyelország</c:v>
                  </c:pt>
                  <c:pt idx="1">
                    <c:v>Hollandia</c:v>
                  </c:pt>
                  <c:pt idx="2">
                    <c:v>Franciaország</c:v>
                  </c:pt>
                  <c:pt idx="3">
                    <c:v>Ukrajna</c:v>
                  </c:pt>
                  <c:pt idx="4">
                    <c:v>Belgium</c:v>
                  </c:pt>
                  <c:pt idx="5">
                    <c:v>Litvánia</c:v>
                  </c:pt>
                  <c:pt idx="6">
                    <c:v>Magyarország</c:v>
                  </c:pt>
                  <c:pt idx="7">
                    <c:v>Olaszország</c:v>
                  </c:pt>
                  <c:pt idx="8">
                    <c:v>Belarusz</c:v>
                  </c:pt>
                  <c:pt idx="9">
                    <c:v>Németország</c:v>
                  </c:pt>
                  <c:pt idx="10">
                    <c:v>Szlovákia</c:v>
                  </c:pt>
                  <c:pt idx="11">
                    <c:v>Görögország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7318</c:v>
                </c:pt>
                <c:pt idx="1">
                  <c:v>6137</c:v>
                </c:pt>
                <c:pt idx="2">
                  <c:v>4303</c:v>
                </c:pt>
                <c:pt idx="3">
                  <c:v>2713</c:v>
                </c:pt>
                <c:pt idx="4">
                  <c:v>1819</c:v>
                </c:pt>
                <c:pt idx="5">
                  <c:v>924</c:v>
                </c:pt>
                <c:pt idx="6">
                  <c:v>887</c:v>
                </c:pt>
                <c:pt idx="7">
                  <c:v>810</c:v>
                </c:pt>
                <c:pt idx="8">
                  <c:v>683</c:v>
                </c:pt>
                <c:pt idx="9">
                  <c:v>666</c:v>
                </c:pt>
                <c:pt idx="10">
                  <c:v>639</c:v>
                </c:pt>
                <c:pt idx="11">
                  <c:v>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C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prezentáció önálló olvasásra is készült: a diák tartalmazzák a lényeget, a jegyzetek további háttérrel szolgálnak. A számok becslések; a források a diák alján és a végén találhatók.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2002-es CDEC-adatok: az olasz félszigetről 6 806 név szerint azonosított deportált, közülük 837 tért haza; a Dodekanészoszról kb. 1 820 deportált, kb. 150–180 túlélő. A kördiagram kerekített becslés: a deportált vagy Olaszországban megölt kb. 7 800 fő a német ellenőrzés alá került kb. 39 000 zsidó kb. 20%-a. A teljes 1938-as (olasz + külföldi) zsidó népességhez viszonyítva a veszteség kb. 15–17%.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háború utáni Togliatti-amnesztia (1946) és a hidegháborús légkör miatt kevés olasz tettest vontak felelősségre. Filippo Focardi kutatásai mutatták be, hogyan alakult ki a „jó olasz – rossz német” narratíva.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legfontosabb különbség: a magyar állam 1944-ben a teljes közigazgatási és csendőri apparátusával vett részt a gettósításban és deportálásban, és a népes vidéki zsidó közösségeket gyorsan el lehetett különíteni. Olaszországban a bábállam gyenge volt, a front közel, a zsidók kevesen és szétszórtan, erősen integráltan éltek.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D1D5DB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Az olasz holokauszt és Európa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olasz holokauszt — és Európa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</a:rPr>
              <a:t>Mi történt Olaszországban 1938 és 1945 között, hogyan zajlott a népirtás más európai országokban, és miért ennyire eltérő a mérleg? Kutatási összefoglaló térképekkel, adatokkal és forrásokkal.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2026. október  ·  Oktatási célú anyag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lényeg három számban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zám"/>
          <p:cNvSpPr txBox="1"/>
          <p:nvPr/>
        </p:nvSpPr>
        <p:spPr>
          <a:xfrm>
            <a:off x="82296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millió</a:t>
            </a:r>
            <a:endParaRPr lang="en-US" sz="4600" dirty="0"/>
          </a:p>
        </p:txBody>
      </p:sp>
      <p:sp>
        <p:nvSpPr>
          <p:cNvPr id="5" name="Szám címke"/>
          <p:cNvSpPr txBox="1"/>
          <p:nvPr/>
        </p:nvSpPr>
        <p:spPr>
          <a:xfrm>
            <a:off x="82296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európai zsidót gyilkoltak meg 1933 és 1945 között — az európai zsidóság kb. kétharmadát</a:t>
            </a:r>
            <a:endParaRPr lang="en-US" sz="1400" dirty="0"/>
          </a:p>
        </p:txBody>
      </p:sp>
      <p:sp>
        <p:nvSpPr>
          <p:cNvPr id="6" name="Kártya"/>
          <p:cNvSpPr/>
          <p:nvPr/>
        </p:nvSpPr>
        <p:spPr>
          <a:xfrm>
            <a:off x="434340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zám"/>
          <p:cNvSpPr txBox="1"/>
          <p:nvPr/>
        </p:nvSpPr>
        <p:spPr>
          <a:xfrm>
            <a:off x="461772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~16%</a:t>
            </a:r>
            <a:endParaRPr lang="en-US" sz="4600" dirty="0"/>
          </a:p>
        </p:txBody>
      </p:sp>
      <p:sp>
        <p:nvSpPr>
          <p:cNvPr id="8" name="Szám címke"/>
          <p:cNvSpPr txBox="1"/>
          <p:nvPr/>
        </p:nvSpPr>
        <p:spPr>
          <a:xfrm>
            <a:off x="461772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olaszországi zsidóság vesztesége (kb. 7 500–8 000 áldozat) — Európa egyik legalacsonyabb aránya</a:t>
            </a:r>
            <a:endParaRPr lang="en-US" sz="1400" dirty="0"/>
          </a:p>
        </p:txBody>
      </p:sp>
      <p:sp>
        <p:nvSpPr>
          <p:cNvPr id="9" name="Kártya"/>
          <p:cNvSpPr/>
          <p:nvPr/>
        </p:nvSpPr>
        <p:spPr>
          <a:xfrm>
            <a:off x="8138160" y="1371600"/>
            <a:ext cx="35204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zám"/>
          <p:cNvSpPr txBox="1"/>
          <p:nvPr/>
        </p:nvSpPr>
        <p:spPr>
          <a:xfrm>
            <a:off x="8412480" y="1508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~565 000</a:t>
            </a:r>
            <a:endParaRPr lang="en-US" sz="4600" dirty="0"/>
          </a:p>
        </p:txBody>
      </p:sp>
      <p:sp>
        <p:nvSpPr>
          <p:cNvPr id="11" name="Szám címke"/>
          <p:cNvSpPr txBox="1"/>
          <p:nvPr/>
        </p:nvSpPr>
        <p:spPr>
          <a:xfrm>
            <a:off x="841248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magyarországi áldozat az 1941–44-es határokon belül (kb. 69%) — főleg 1944 nyarán, 8 hét alatt</a:t>
            </a:r>
            <a:endParaRPr lang="en-US" sz="1400" dirty="0"/>
          </a:p>
        </p:txBody>
      </p:sp>
      <p:sp>
        <p:nvSpPr>
          <p:cNvPr id="12" name="Kártya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9768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Fő üzenet: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Olaszországban a zsidók kb. 80%-a túlélte a háborút — de nem azért, mert ott „nem volt” holokauszt. A fasiszta állam 1938-ban saját döntéséből vezette be a fajtörvényeket, 1943 után pedig olasz rendőrök is részt vettek a letartóztatásokban. A túlélést elsősorban a késői német megszállás, a front közelsége, a zsidók erős társadalmi beágyazottsága és a mentőhálózatok magyarázzák.</a:t>
            </a:r>
            <a:endParaRPr lang="en-US" sz="1500" dirty="0"/>
          </a:p>
        </p:txBody>
      </p:sp>
      <p:sp>
        <p:nvSpPr>
          <p:cNvPr id="14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 Holocaust Encyclopedia; Picciotto: Il libro della memoria (CDEC, 2002); Braham: The Politics of Genocide (2016). Kerekített becslések.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Tartalom</a:t>
            </a:r>
            <a:endParaRPr lang="en-US" sz="3200" dirty="0"/>
          </a:p>
        </p:txBody>
      </p:sp>
      <p:sp>
        <p:nvSpPr>
          <p:cNvPr id="3" name="Szám kör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0759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Alapfogalmak és európai keret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Mi a holokauszt, szakaszai, a gyilkosság földrajza</a:t>
            </a:r>
            <a:endParaRPr lang="en-US" sz="1400" dirty="0"/>
          </a:p>
        </p:txBody>
      </p:sp>
      <p:sp>
        <p:nvSpPr>
          <p:cNvPr id="7" name="Szám kör"/>
          <p:cNvSpPr/>
          <p:nvPr/>
        </p:nvSpPr>
        <p:spPr>
          <a:xfrm>
            <a:off x="548640" y="225856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58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402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Olaszország 1938–1945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2432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Fajtörvények, internálás, német megszállás, deportálások, mentés, emlékezet</a:t>
            </a:r>
            <a:endParaRPr lang="en-US" sz="1400" dirty="0"/>
          </a:p>
        </p:txBody>
      </p:sp>
      <p:sp>
        <p:nvSpPr>
          <p:cNvPr id="11" name="Szám kör"/>
          <p:cNvSpPr/>
          <p:nvPr/>
        </p:nvSpPr>
        <p:spPr>
          <a:xfrm>
            <a:off x="548640" y="3191256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912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729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Magyarország — összehasonlító eset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5701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Egy másik tengelyszövetséges: miért lett itt a legnagyobb a veszteség 1944-ben?</a:t>
            </a:r>
            <a:endParaRPr lang="en-US" sz="1400" dirty="0"/>
          </a:p>
        </p:txBody>
      </p:sp>
      <p:sp>
        <p:nvSpPr>
          <p:cNvPr id="15" name="Szám kör"/>
          <p:cNvSpPr/>
          <p:nvPr/>
        </p:nvSpPr>
        <p:spPr>
          <a:xfrm>
            <a:off x="548640" y="4123944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239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0565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Európai összehasonlítás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8970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Térkép, áldozati számok és arányok, országprofilok, magyarázó tényezők</a:t>
            </a:r>
            <a:endParaRPr lang="en-US" sz="1400" dirty="0"/>
          </a:p>
        </p:txBody>
      </p:sp>
      <p:sp>
        <p:nvSpPr>
          <p:cNvPr id="19" name="Szám kör"/>
          <p:cNvSpPr/>
          <p:nvPr/>
        </p:nvSpPr>
        <p:spPr>
          <a:xfrm>
            <a:off x="548640" y="5056632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566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3834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Összegzés, fogalomtár, források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42239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Tanulságok, kulcsfogalmak, szakirodalom és online adatbázisok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Alapfogalmak és európai keret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Mi a holokauszt, hogyan és hol zajlott?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a holokauszt?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holokauszt (héberül: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Soá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„katasztrófa”) az európai zsidóság állami szinten megszervezett, szisztematikus üldözése és meggyilkolása 1933 és 1945 között, amelyet a nemzetiszocialista Németország, szövetségesei és helyi kollaboránsai hajtottak végre.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Más áldozati csoportok (nem a „holokauszt” szűkebb fogalma, de ugyanannak a rendszernek az áldozatai):</a:t>
            </a:r>
            <a:endParaRPr lang="en-US" sz="1400" dirty="0"/>
          </a:p>
        </p:txBody>
      </p:sp>
      <p:sp>
        <p:nvSpPr>
          <p:cNvPr id="5" name="Felsorolás"/>
          <p:cNvSpPr txBox="1"/>
          <p:nvPr/>
        </p:nvSpPr>
        <p:spPr>
          <a:xfrm>
            <a:off x="548640" y="38404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Romák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(porajmos): kb. 200–500 ezer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Fogyatékkal élők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(„eutanázia”, T4): kb. 250–300 ezer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Szovjet hadifoglyok: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kb. 3 millió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Lengyel és más szláv civilek,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politikai foglyok, homoszexuálisok, Jehova tanúi</a:t>
            </a:r>
            <a:endParaRPr lang="en-US" sz="1400" dirty="0"/>
          </a:p>
        </p:txBody>
      </p:sp>
      <p:sp>
        <p:nvSpPr>
          <p:cNvPr id="6" name="Kártya"/>
          <p:cNvSpPr/>
          <p:nvPr/>
        </p:nvSpPr>
        <p:spPr>
          <a:xfrm>
            <a:off x="5943600" y="1234440"/>
            <a:ext cx="56692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kon kör"/>
          <p:cNvSpPr/>
          <p:nvPr/>
        </p:nvSpPr>
        <p:spPr>
          <a:xfrm>
            <a:off x="6172200" y="158191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0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647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0" y="1371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1933–1939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Jogfosztás és kirekesztés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173736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Nürnbergi törvények (1935), vagyonelkobzás, Kristályéjszaka (1938), kényszerkivándorlás.</a:t>
            </a:r>
            <a:endParaRPr lang="en-US" sz="1400" dirty="0"/>
          </a:p>
        </p:txBody>
      </p:sp>
      <p:sp>
        <p:nvSpPr>
          <p:cNvPr id="11" name="Kártya"/>
          <p:cNvSpPr/>
          <p:nvPr/>
        </p:nvSpPr>
        <p:spPr>
          <a:xfrm>
            <a:off x="5943600" y="2807208"/>
            <a:ext cx="56692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kon kör"/>
          <p:cNvSpPr/>
          <p:nvPr/>
        </p:nvSpPr>
        <p:spPr>
          <a:xfrm>
            <a:off x="6172200" y="315468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1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3375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944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1939–1941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Gettók és tömeges kivégzések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331012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Lengyelországi gettók; 1941-től az Einsatzgruppék és helyi segítőik keleten kb. 2 millió zsidót lőnek agyon.</a:t>
            </a:r>
            <a:endParaRPr lang="en-US" sz="1400" dirty="0"/>
          </a:p>
        </p:txBody>
      </p:sp>
      <p:sp>
        <p:nvSpPr>
          <p:cNvPr id="16" name="Kártya"/>
          <p:cNvSpPr/>
          <p:nvPr/>
        </p:nvSpPr>
        <p:spPr>
          <a:xfrm>
            <a:off x="5943600" y="4379976"/>
            <a:ext cx="56692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kon kör"/>
          <p:cNvSpPr/>
          <p:nvPr/>
        </p:nvSpPr>
        <p:spPr>
          <a:xfrm>
            <a:off x="6172200" y="472744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FaT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91032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32320" y="45171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1942–1945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„Végső megoldás”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0" y="488289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Wannsee (1942. jan. 20.): összeurópai deportálás a megsemmisítő táborokba — Auschwitz, Treblinka, Sobibór, Bełżec.</a:t>
            </a:r>
            <a:endParaRPr lang="en-US" sz="1400" dirty="0"/>
          </a:p>
        </p:txBody>
      </p:sp>
      <p:sp>
        <p:nvSpPr>
          <p:cNvPr id="21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 Holocaust Encyclopedia („Introduction to the Holocaust”, „Mosaic of Victims”); Hilberg: The Destruction of the European Jews (2003).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Idővonal 1933–1945: Európa, Olaszország, Magyarország</a:t>
            </a:r>
            <a:endParaRPr lang="en-US" sz="3200" dirty="0"/>
          </a:p>
        </p:txBody>
      </p:sp>
      <p:sp>
        <p:nvSpPr>
          <p:cNvPr id="3" name="Idővonal"/>
          <p:cNvSpPr/>
          <p:nvPr/>
        </p:nvSpPr>
        <p:spPr>
          <a:xfrm>
            <a:off x="1508760" y="3611880"/>
            <a:ext cx="914400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4" name="Pont"/>
          <p:cNvSpPr/>
          <p:nvPr/>
        </p:nvSpPr>
        <p:spPr>
          <a:xfrm>
            <a:off x="1389888" y="3493008"/>
            <a:ext cx="237744" cy="237744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3108960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1933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34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Hitler hatalomra jut; első bojkott, kizárás az állami szolgálatból</a:t>
            </a:r>
            <a:endParaRPr lang="en-US" sz="1200" dirty="0"/>
          </a:p>
        </p:txBody>
      </p:sp>
      <p:sp>
        <p:nvSpPr>
          <p:cNvPr id="8" name="Pont"/>
          <p:cNvSpPr/>
          <p:nvPr/>
        </p:nvSpPr>
        <p:spPr>
          <a:xfrm>
            <a:off x="2532888" y="3493008"/>
            <a:ext cx="237744" cy="237744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3730752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1935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480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Nürnbergi faji törvények Németországban</a:t>
            </a:r>
            <a:endParaRPr lang="en-US" sz="1200" dirty="0"/>
          </a:p>
        </p:txBody>
      </p:sp>
      <p:sp>
        <p:nvSpPr>
          <p:cNvPr id="12" name="Pont"/>
          <p:cNvSpPr/>
          <p:nvPr/>
        </p:nvSpPr>
        <p:spPr>
          <a:xfrm>
            <a:off x="3675888" y="34930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3108960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1938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1234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Olasz fajtörvények (nov.); első magyar zsidótörvény; Kristályéjszaka</a:t>
            </a:r>
            <a:endParaRPr lang="en-US" sz="1200" dirty="0"/>
          </a:p>
        </p:txBody>
      </p:sp>
      <p:sp>
        <p:nvSpPr>
          <p:cNvPr id="16" name="Pont"/>
          <p:cNvSpPr/>
          <p:nvPr/>
        </p:nvSpPr>
        <p:spPr>
          <a:xfrm>
            <a:off x="4818888" y="3493008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730752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1939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480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Lengyelország lerohanása; második magyar zsidótörvény</a:t>
            </a:r>
            <a:endParaRPr lang="en-US" sz="1200" dirty="0"/>
          </a:p>
        </p:txBody>
      </p:sp>
      <p:sp>
        <p:nvSpPr>
          <p:cNvPr id="20" name="Pont"/>
          <p:cNvSpPr/>
          <p:nvPr/>
        </p:nvSpPr>
        <p:spPr>
          <a:xfrm>
            <a:off x="5961888" y="3493008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3108960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1941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1234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Barbarossa-hadművelet; Kamenyec-Podolszkij (~23 600 halott)</a:t>
            </a:r>
            <a:endParaRPr lang="en-US" sz="1200" dirty="0"/>
          </a:p>
        </p:txBody>
      </p:sp>
      <p:sp>
        <p:nvSpPr>
          <p:cNvPr id="24" name="Pont"/>
          <p:cNvSpPr/>
          <p:nvPr/>
        </p:nvSpPr>
        <p:spPr>
          <a:xfrm>
            <a:off x="7104888" y="3493008"/>
            <a:ext cx="237744" cy="237744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3730752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1942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480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Wannsee-konferencia; Reinhard-akció táborai működnek</a:t>
            </a:r>
            <a:endParaRPr lang="en-US" sz="1200" dirty="0"/>
          </a:p>
        </p:txBody>
      </p:sp>
      <p:sp>
        <p:nvSpPr>
          <p:cNvPr id="28" name="Pont"/>
          <p:cNvSpPr/>
          <p:nvPr/>
        </p:nvSpPr>
        <p:spPr>
          <a:xfrm>
            <a:off x="8247888" y="34930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3108960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1943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1234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Varsói gettófelkelés; olasz fegyverszünet (szept. 8.); római razzia (okt. 16.)</a:t>
            </a:r>
            <a:endParaRPr lang="en-US" sz="1200" dirty="0"/>
          </a:p>
        </p:txBody>
      </p:sp>
      <p:sp>
        <p:nvSpPr>
          <p:cNvPr id="32" name="Pont"/>
          <p:cNvSpPr/>
          <p:nvPr/>
        </p:nvSpPr>
        <p:spPr>
          <a:xfrm>
            <a:off x="9390888" y="34930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09760" y="3730752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6968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1944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549640" y="4480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Mo. német megszállása (márc. 19.); ~437 000 deportált; Rodosz</a:t>
            </a:r>
            <a:endParaRPr lang="en-US" sz="1200" dirty="0"/>
          </a:p>
        </p:txBody>
      </p:sp>
      <p:sp>
        <p:nvSpPr>
          <p:cNvPr id="36" name="Pont"/>
          <p:cNvSpPr/>
          <p:nvPr/>
        </p:nvSpPr>
        <p:spPr>
          <a:xfrm>
            <a:off x="10533888" y="3493008"/>
            <a:ext cx="237744" cy="237744"/>
          </a:xfrm>
          <a:prstGeom prst="ellipse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52760" y="3108960"/>
            <a:ext cx="0" cy="384048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1268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1945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692640" y="123444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Auschwitz felszabadul (jan. 27.); a háború vége Európában (máj. 8.)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669280"/>
            <a:ext cx="201168" cy="2011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1248" y="5605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Európa / Németország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91840" y="566928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84448" y="5605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Olaszország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5669280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5605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Magyarország</a:t>
            </a:r>
            <a:endParaRPr lang="en-US" sz="1200" dirty="0"/>
          </a:p>
        </p:txBody>
      </p:sp>
      <p:sp>
        <p:nvSpPr>
          <p:cNvPr id="46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USHMM; Yad Vashem; Braham (2016); Sarfatti: The Jews in Mussolini’s Italy (2006).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gyilkosság földrajza: táborok és kivégzési helyek</a:t>
            </a:r>
            <a:endParaRPr lang="en-US" sz="3200" dirty="0"/>
          </a:p>
        </p:txBody>
      </p:sp>
      <p:pic>
        <p:nvPicPr>
          <p:cNvPr id="3" name="Image 0" descr="Európa térkép a megsemmisítő és átmeneti táborokk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035040" cy="4718304"/>
          </a:xfrm>
          <a:prstGeom prst="rect">
            <a:avLst/>
          </a:prstGeom>
        </p:spPr>
      </p:pic>
      <p:sp>
        <p:nvSpPr>
          <p:cNvPr id="4" name="Felsorolás"/>
          <p:cNvSpPr txBox="1"/>
          <p:nvPr/>
        </p:nvSpPr>
        <p:spPr>
          <a:xfrm>
            <a:off x="6949440" y="1280160"/>
            <a:ext cx="4663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 megsemmisítő táborok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szinte mind a megszállt Lengyelország területén működtek — oda szállították Európa minden részéből a zsidókat.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Az átmeneti táborok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(Drancy, Westerbork, Mechelen, Fossoli, Bolzano, Theresienstadt) voltak a deportálás „gyűjtőpontjai”.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„Golyós holokauszt”: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Szovjetunió megszállt területein kb. 2 millió zsidót lőttek agyon a helyszínen (pl. Babij Jar, 1941. szept.: ~33 771 fő két nap alatt).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Olaszország egyetlen krematóriummal rendelkező tábora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trieszti Risiera di San Sabba volt.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Jasenovac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horvát usztasa rezsim saját tábora volt — zsidók, szerbek és romák tömegeit gyilkolták meg ott.</a:t>
            </a:r>
            <a:endParaRPr lang="en-US" sz="1400" dirty="0"/>
          </a:p>
        </p:txBody>
      </p:sp>
      <p:sp>
        <p:nvSpPr>
          <p:cNvPr id="5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Gilbert: Atlas of the Holocaust; USHMM Holocaust Encyclopedia. Mai határokkal ábrázolva, sematikus.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megsemmisítő táborok zsidó áldozatai (becslés)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ártya"/>
          <p:cNvSpPr/>
          <p:nvPr/>
        </p:nvSpPr>
        <p:spPr>
          <a:xfrm>
            <a:off x="7863840" y="1188720"/>
            <a:ext cx="3749040" cy="475488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Hogyan olvasd?</a:t>
            </a:r>
            <a:endParaRPr lang="en-US" sz="1800" dirty="0"/>
          </a:p>
        </p:txBody>
      </p:sp>
      <p:sp>
        <p:nvSpPr>
          <p:cNvPr id="6" name="Felsorolás"/>
          <p:cNvSpPr txBox="1"/>
          <p:nvPr/>
        </p:nvSpPr>
        <p:spPr>
          <a:xfrm>
            <a:off x="8138160" y="187452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Auschwitz-Birkenau összesen kb. 1,1 millió áldozatának kb. 90%-a zsidó volt; minden harmadik zsidó áldozata Magyarországról érkezett.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Treblinka, Bełżec és Sobibór (Reinhard-akció) szinte kizárólag gyilkolásra szolgált: az érkezők többségét órákon belül megölték.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számok tartományok középértékei — a dokumentumokat a nácik nagyrészt megsemmisítették.</a:t>
            </a:r>
            <a:endParaRPr lang="en-US" sz="1400" dirty="0"/>
          </a:p>
        </p:txBody>
      </p:sp>
      <p:sp>
        <p:nvSpPr>
          <p:cNvPr id="7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Piper: Auschwitz (1993); USHMM (Treblinka 870–925 ezer; Bełżec ≥434 ezer; Sobibór ~167–250 ezer; Chełmno ≥152 ezer); Państwowe Muzeum na Majdanku.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Olaszország 1938–1945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A fajtörvényektől a deportálásokig — és a mentésig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olasz zsidóság 1938 előtt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zám"/>
          <p:cNvSpPr txBox="1"/>
          <p:nvPr/>
        </p:nvSpPr>
        <p:spPr>
          <a:xfrm>
            <a:off x="777240" y="12801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~47 000</a:t>
            </a:r>
            <a:endParaRPr lang="en-US" sz="3400" dirty="0"/>
          </a:p>
        </p:txBody>
      </p:sp>
      <p:sp>
        <p:nvSpPr>
          <p:cNvPr id="5" name="Szám címke"/>
          <p:cNvSpPr txBox="1"/>
          <p:nvPr/>
        </p:nvSpPr>
        <p:spPr>
          <a:xfrm>
            <a:off x="777240" y="2194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olasz állampolgárságú zsidó (1938) + kb. 10 000 külföldi zsidó menekült</a:t>
            </a:r>
            <a:endParaRPr lang="en-US" sz="1400" dirty="0"/>
          </a:p>
        </p:txBody>
      </p:sp>
      <p:sp>
        <p:nvSpPr>
          <p:cNvPr id="6" name="Kártya"/>
          <p:cNvSpPr/>
          <p:nvPr/>
        </p:nvSpPr>
        <p:spPr>
          <a:xfrm>
            <a:off x="548640" y="2807208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zám"/>
          <p:cNvSpPr txBox="1"/>
          <p:nvPr/>
        </p:nvSpPr>
        <p:spPr>
          <a:xfrm>
            <a:off x="777240" y="285292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~0,1%</a:t>
            </a:r>
            <a:endParaRPr lang="en-US" sz="3400" dirty="0"/>
          </a:p>
        </p:txBody>
      </p:sp>
      <p:sp>
        <p:nvSpPr>
          <p:cNvPr id="8" name="Szám címke"/>
          <p:cNvSpPr txBox="1"/>
          <p:nvPr/>
        </p:nvSpPr>
        <p:spPr>
          <a:xfrm>
            <a:off x="777240" y="376732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ország lakosságából — Európa egyik legkisebb közössége</a:t>
            </a:r>
            <a:endParaRPr lang="en-US" sz="1400" dirty="0"/>
          </a:p>
        </p:txBody>
      </p:sp>
      <p:sp>
        <p:nvSpPr>
          <p:cNvPr id="9" name="Kártya"/>
          <p:cNvSpPr/>
          <p:nvPr/>
        </p:nvSpPr>
        <p:spPr>
          <a:xfrm>
            <a:off x="548640" y="4379976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zám"/>
          <p:cNvSpPr txBox="1"/>
          <p:nvPr/>
        </p:nvSpPr>
        <p:spPr>
          <a:xfrm>
            <a:off x="777240" y="442569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2000+ év</a:t>
            </a:r>
            <a:endParaRPr lang="en-US" sz="3400" dirty="0"/>
          </a:p>
        </p:txBody>
      </p:sp>
      <p:sp>
        <p:nvSpPr>
          <p:cNvPr id="11" name="Szám címke"/>
          <p:cNvSpPr txBox="1"/>
          <p:nvPr/>
        </p:nvSpPr>
        <p:spPr>
          <a:xfrm>
            <a:off x="777240" y="534009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Róma zsidó közössége a kontinens legrégebbi folyamatos diaszpórája</a:t>
            </a:r>
            <a:endParaRPr lang="en-US" sz="1400" dirty="0"/>
          </a:p>
        </p:txBody>
      </p:sp>
      <p:sp>
        <p:nvSpPr>
          <p:cNvPr id="12" name="Felsorolás"/>
          <p:cNvSpPr txBox="1"/>
          <p:nvPr/>
        </p:nvSpPr>
        <p:spPr>
          <a:xfrm>
            <a:off x="4754880" y="1280160"/>
            <a:ext cx="68580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Erős integráció: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az 1848–1870-es emancipáció után a zsidók teljes jogú polgárok lettek; részt vettek a Risorgimentóban és az I. világháborúban.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Vezető szerepek: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Luigi Luzzatti miniszterelnök (1910–11), Ernesto Nathan Róma polgármestere (1907–13), számos tábornok, professzor és üzletember.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Fasizmus és zsidók: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mozgalom eredetileg nem volt antiszemita; sok zsidó is belépett a fasiszta pártba (pl. Margherita Sarfatti, Mussolini életrajzírója).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Fordulat 1936 után: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az etiópiai háború, a „birodalmi” fajgondolat és a Németországgal kötött szövetség (Tengely, 1936) nyomán az antiszemita propaganda felerősödött.</a:t>
            </a:r>
            <a:endParaRPr lang="en-US" sz="1500" dirty="0"/>
          </a:p>
        </p:txBody>
      </p:sp>
      <p:sp>
        <p:nvSpPr>
          <p:cNvPr id="13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Sarfatti: The Jews in Mussolini’s Italy (2006); Zuccotti: The Italians and the Holocaust (1987); USHMM „Italy”.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1938: a fasiszta fajtörvények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600200"/>
            <a:ext cx="0" cy="658368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júl. 14.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2344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„fajvédelmi tudósok kiáltványa” (Manifesto della razza): az olaszok „árja faj”, a zsidók nem tartoznak hozzá.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14600"/>
            <a:ext cx="0" cy="658368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1488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aug. 22.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1488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Külön zsidó népszámlálás — később ez lett a letartóztatások alapja.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429000"/>
            <a:ext cx="0" cy="658368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szept. 5.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0632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Zsidó diákok és tanárok kizárása az állami iskolákból és egyetemekről.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343400"/>
            <a:ext cx="0" cy="658368"/>
          </a:xfrm>
          <a:prstGeom prst="line">
            <a:avLst/>
          </a:prstGeom>
          <a:noFill/>
          <a:ln w="19050">
            <a:solidFill>
              <a:srgbClr val="D9DC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977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szept. 7.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977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1919 után honosított zsidók állampolgárságának visszavonása, a külföldi zsidók kiutasítása.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0176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892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nov. 17.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8920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1728. sz. királyi törvényerejű rendelet „az olasz faj védelméről”: vegyes házasság tilalma; kizárás a hadseregből, közszolgálatból, pártból; vagyon- és vállalkozáskorlátozás.</a:t>
            </a:r>
            <a:endParaRPr lang="en-US" sz="1400" dirty="0"/>
          </a:p>
        </p:txBody>
      </p:sp>
      <p:sp>
        <p:nvSpPr>
          <p:cNvPr id="22" name="Kártya"/>
          <p:cNvSpPr/>
          <p:nvPr/>
        </p:nvSpPr>
        <p:spPr>
          <a:xfrm>
            <a:off x="7680960" y="1234440"/>
            <a:ext cx="3931920" cy="4663440"/>
          </a:xfrm>
          <a:prstGeom prst="roundRect">
            <a:avLst>
              <a:gd name="adj" fmla="val 186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Ikon kör"/>
          <p:cNvSpPr/>
          <p:nvPr/>
        </p:nvSpPr>
        <p:spPr>
          <a:xfrm>
            <a:off x="7955280" y="15087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0" descr="FaGa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590" y="1703070"/>
            <a:ext cx="388620" cy="3886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955280" y="2423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Saját döntés, nem német parancs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955280" y="32918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A történészek egyetértenek abban, hogy Berlin nem követelte a törvényeket. Mussolini ideológiai és politikai okokból (birodalmi fajpolitika, közeledés Hitlerhez) hozta meg őket — és a végrehajtás sok területen a német rendelkezéseknél is szigorúbb volt.</a:t>
            </a:r>
            <a:endParaRPr lang="en-US" sz="1400" dirty="0"/>
          </a:p>
        </p:txBody>
      </p:sp>
      <p:sp>
        <p:nvSpPr>
          <p:cNvPr id="27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Sarfatti (2006); Regio decreto-legge 17 novembre 1938, n. 1728; USHMM „Italy”.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törvények következményei 1938–1943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zám"/>
          <p:cNvSpPr txBox="1"/>
          <p:nvPr/>
        </p:nvSpPr>
        <p:spPr>
          <a:xfrm>
            <a:off x="777240" y="1280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~6 000</a:t>
            </a:r>
            <a:endParaRPr lang="en-US" sz="4000" dirty="0"/>
          </a:p>
        </p:txBody>
      </p:sp>
      <p:sp>
        <p:nvSpPr>
          <p:cNvPr id="5" name="Szám címke"/>
          <p:cNvSpPr txBox="1"/>
          <p:nvPr/>
        </p:nvSpPr>
        <p:spPr>
          <a:xfrm>
            <a:off x="77724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olasz zsidó emigrált 1938–41 között (a közösség kb. 13%-a)</a:t>
            </a:r>
            <a:endParaRPr lang="en-US" sz="1400" dirty="0"/>
          </a:p>
        </p:txBody>
      </p:sp>
      <p:sp>
        <p:nvSpPr>
          <p:cNvPr id="6" name="Kártya"/>
          <p:cNvSpPr/>
          <p:nvPr/>
        </p:nvSpPr>
        <p:spPr>
          <a:xfrm>
            <a:off x="4343400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zám"/>
          <p:cNvSpPr txBox="1"/>
          <p:nvPr/>
        </p:nvSpPr>
        <p:spPr>
          <a:xfrm>
            <a:off x="4572000" y="1280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4000" dirty="0"/>
          </a:p>
        </p:txBody>
      </p:sp>
      <p:sp>
        <p:nvSpPr>
          <p:cNvPr id="8" name="Szám címke"/>
          <p:cNvSpPr txBox="1"/>
          <p:nvPr/>
        </p:nvSpPr>
        <p:spPr>
          <a:xfrm>
            <a:off x="457200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egyetemi rendes tanárt távolítottak el állásából</a:t>
            </a:r>
            <a:endParaRPr lang="en-US" sz="1400" dirty="0"/>
          </a:p>
        </p:txBody>
      </p:sp>
      <p:sp>
        <p:nvSpPr>
          <p:cNvPr id="9" name="Kártya"/>
          <p:cNvSpPr/>
          <p:nvPr/>
        </p:nvSpPr>
        <p:spPr>
          <a:xfrm>
            <a:off x="8138160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zám"/>
          <p:cNvSpPr txBox="1"/>
          <p:nvPr/>
        </p:nvSpPr>
        <p:spPr>
          <a:xfrm>
            <a:off x="8366760" y="1280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Szám címke"/>
          <p:cNvSpPr txBox="1"/>
          <p:nvPr/>
        </p:nvSpPr>
        <p:spPr>
          <a:xfrm>
            <a:off x="836676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deportálás 1943 szeptemberéig — Róma elutasította a német követeléseket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„Agyelszívás”: a fajtörvények miatt távozott vagy elhallgattatott tudósok</a:t>
            </a:r>
            <a:endParaRPr lang="en-US" sz="1800" dirty="0"/>
          </a:p>
        </p:txBody>
      </p:sp>
      <p:sp>
        <p:nvSpPr>
          <p:cNvPr id="13" name="Kártya"/>
          <p:cNvSpPr/>
          <p:nvPr/>
        </p:nvSpPr>
        <p:spPr>
          <a:xfrm>
            <a:off x="548640" y="3794760"/>
            <a:ext cx="261518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kon kör"/>
          <p:cNvSpPr/>
          <p:nvPr/>
        </p:nvSpPr>
        <p:spPr>
          <a:xfrm>
            <a:off x="731520" y="397764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0" descr="Fa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4119372"/>
            <a:ext cx="283464" cy="28346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Enrico Fermi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6634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Nobel-díjas fizikus (1938); zsidó felesége miatt az USA-ba emigrált.</a:t>
            </a:r>
            <a:endParaRPr lang="en-US" sz="1400" dirty="0"/>
          </a:p>
        </p:txBody>
      </p:sp>
      <p:sp>
        <p:nvSpPr>
          <p:cNvPr id="18" name="Kártya"/>
          <p:cNvSpPr/>
          <p:nvPr/>
        </p:nvSpPr>
        <p:spPr>
          <a:xfrm>
            <a:off x="3346704" y="3794760"/>
            <a:ext cx="261518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kon kör"/>
          <p:cNvSpPr/>
          <p:nvPr/>
        </p:nvSpPr>
        <p:spPr>
          <a:xfrm>
            <a:off x="3529584" y="397764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1" descr="FaGraduationC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6" y="4119372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215384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Emilio Segrè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529584" y="46634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Fizikus, 1959-ben Nobel-díj — az USA-ban dolgozott tovább.</a:t>
            </a:r>
            <a:endParaRPr lang="en-US" sz="1400" dirty="0"/>
          </a:p>
        </p:txBody>
      </p:sp>
      <p:sp>
        <p:nvSpPr>
          <p:cNvPr id="23" name="Kártya"/>
          <p:cNvSpPr/>
          <p:nvPr/>
        </p:nvSpPr>
        <p:spPr>
          <a:xfrm>
            <a:off x="6144768" y="3794760"/>
            <a:ext cx="261518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kon kör"/>
          <p:cNvSpPr/>
          <p:nvPr/>
        </p:nvSpPr>
        <p:spPr>
          <a:xfrm>
            <a:off x="6327648" y="397764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4119372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013448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Rita Levi-Montalcini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6327648" y="46634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Hálószobájában rendezett be titkos labort; 1986-ban Nobel-díj.</a:t>
            </a:r>
            <a:endParaRPr lang="en-US" sz="1400" dirty="0"/>
          </a:p>
        </p:txBody>
      </p:sp>
      <p:sp>
        <p:nvSpPr>
          <p:cNvPr id="28" name="Kártya"/>
          <p:cNvSpPr/>
          <p:nvPr/>
        </p:nvSpPr>
        <p:spPr>
          <a:xfrm>
            <a:off x="8942832" y="3794760"/>
            <a:ext cx="2615184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kon kör"/>
          <p:cNvSpPr/>
          <p:nvPr/>
        </p:nvSpPr>
        <p:spPr>
          <a:xfrm>
            <a:off x="9125712" y="3977640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Image 3" descr="FaBoo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444" y="4119372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811512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Franco Modigliani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9125712" y="46634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Közgazdász, 1939-ben emigrált; 1985-ben Nobel-díj.</a:t>
            </a:r>
            <a:endParaRPr lang="en-US" sz="1400" dirty="0"/>
          </a:p>
        </p:txBody>
      </p:sp>
      <p:sp>
        <p:nvSpPr>
          <p:cNvPr id="33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Sarfatti (2006); Zuccotti (1987); a Nobel-díjak: nobelprize.org. Az emigrációs szám kerekített becslés.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1940–1943: internálás otthon, védelem a megszállt zónákban</a:t>
            </a:r>
            <a:endParaRPr lang="en-US" sz="3200" dirty="0"/>
          </a:p>
        </p:txBody>
      </p:sp>
      <p:pic>
        <p:nvPicPr>
          <p:cNvPr id="3" name="Image 0" descr="Olasz megszállási övezetek 1941–4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4" name="Felsorolás"/>
          <p:cNvSpPr txBox="1"/>
          <p:nvPr/>
        </p:nvSpPr>
        <p:spPr>
          <a:xfrm>
            <a:off x="7406640" y="1234440"/>
            <a:ext cx="4206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1940. jún. 10.: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Olaszország belép a háborúba; a külföldi zsidókat internálják. A legnagyobb tábor Ferramonti di Tarsia (Calabria): kb. 3 800 fogoly fordult meg ott; 1943 szeptemberében a britek szabadították fel.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Kényszermunka 1942-től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olasz zsidó férfiaknak — de deportálás nem volt.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 megszállt zónákban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(Délkelet-Franciaország, Dalmácia, Montenegró, Görögország egy része) az olasz hadsereg és diplomaták többnyire megtagadták a zsidók kiadását a németeknek és az usztasáknak.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Motívumok: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humanitárius szempontok mellett presztízs, szuverenitás a németekkel szemben, és 1942 végétől a háború várható kimenetele.</a:t>
            </a:r>
            <a:endParaRPr lang="en-US" sz="1400" dirty="0"/>
          </a:p>
        </p:txBody>
      </p:sp>
      <p:sp>
        <p:nvSpPr>
          <p:cNvPr id="5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Steinberg: All or Nothing (1990); Rodogno: Fascism’s European Empire (2006); USHMM „Ferramonti”.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1943. szeptember 8. — a fordulópont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fegyverszünet kihirdetése után a németek megszállják Észak- és Közép-Olaszországot; szeptember 23-án létrejön Mussolini bábállama, az Olasz Szociális Köztársaság (RSI, „Salòi Köztársaság”). Kb. 39 000 zsidó — köztük 6–7 000 külföldi — kerül német ellenőrzés alá.</a:t>
            </a:r>
            <a:endParaRPr lang="en-US" sz="1500" dirty="0"/>
          </a:p>
        </p:txBody>
      </p:sp>
      <p:sp>
        <p:nvSpPr>
          <p:cNvPr id="4" name="Kártya"/>
          <p:cNvSpPr/>
          <p:nvPr/>
        </p:nvSpPr>
        <p:spPr>
          <a:xfrm>
            <a:off x="548640" y="237744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kon kör"/>
          <p:cNvSpPr/>
          <p:nvPr/>
        </p:nvSpPr>
        <p:spPr>
          <a:xfrm>
            <a:off x="777240" y="26060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FaId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7774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Jogi alap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Veronai Kiáltvány (1943. nov. 14.): a zsidók „ellenséges nemzetiségű idegenek”. 5. sz. rendőri utasítás (nov. 30.): minden zsidót táborba kell zárni, vagyonukat el kell kobozni.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3657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10" name="Kártya"/>
          <p:cNvSpPr/>
          <p:nvPr/>
        </p:nvSpPr>
        <p:spPr>
          <a:xfrm>
            <a:off x="3383280" y="237744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kon kör"/>
          <p:cNvSpPr/>
          <p:nvPr/>
        </p:nvSpPr>
        <p:spPr>
          <a:xfrm>
            <a:off x="3611880" y="26060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1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330" y="27774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Letartóztatás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Német Sipo-SD és olasz rendőrség, karabinierik, milíciák; fizetett feljelentések (fejpénz).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0" y="3657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16" name="Kártya"/>
          <p:cNvSpPr/>
          <p:nvPr/>
        </p:nvSpPr>
        <p:spPr>
          <a:xfrm>
            <a:off x="6217920" y="237744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kon kör"/>
          <p:cNvSpPr/>
          <p:nvPr/>
        </p:nvSpPr>
        <p:spPr>
          <a:xfrm>
            <a:off x="6446520" y="26060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2" descr="Fa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77749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Gyűjtőtáborok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Tartományi táborok → Fossoli (1943 dec.–1944 júl.) → Bolzano; Trieszt: Risiera di San Sabba.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778240" y="3657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›</a:t>
            </a:r>
            <a:endParaRPr lang="en-US" sz="3200" dirty="0"/>
          </a:p>
        </p:txBody>
      </p:sp>
      <p:sp>
        <p:nvSpPr>
          <p:cNvPr id="22" name="Kártya"/>
          <p:cNvSpPr/>
          <p:nvPr/>
        </p:nvSpPr>
        <p:spPr>
          <a:xfrm>
            <a:off x="9052560" y="2377440"/>
            <a:ext cx="2560320" cy="35204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kon kör"/>
          <p:cNvSpPr/>
          <p:nvPr/>
        </p:nvSpPr>
        <p:spPr>
          <a:xfrm>
            <a:off x="9281160" y="2606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3" descr="FaT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277749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10412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Deportálás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347472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Főként Auschwitz-Birkenauba; kisebb részben Bergen-Belsenbe, Ravensbrückbe, Buchenwaldba.</a:t>
            </a:r>
            <a:endParaRPr lang="en-US" sz="1400" dirty="0"/>
          </a:p>
        </p:txBody>
      </p:sp>
      <p:sp>
        <p:nvSpPr>
          <p:cNvPr id="27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Picciotto: Il libro della memoria (2002); Carta di Verona (1943); Ordinanza di polizia n. 5 (1943. nov. 30.); USHMM „Italy”.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1943. október 16. — a római razzia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zám"/>
          <p:cNvSpPr txBox="1"/>
          <p:nvPr/>
        </p:nvSpPr>
        <p:spPr>
          <a:xfrm>
            <a:off x="777240" y="1280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1 259</a:t>
            </a:r>
            <a:endParaRPr lang="en-US" sz="4600" dirty="0"/>
          </a:p>
        </p:txBody>
      </p:sp>
      <p:sp>
        <p:nvSpPr>
          <p:cNvPr id="5" name="Szám címke"/>
          <p:cNvSpPr txBox="1"/>
          <p:nvPr/>
        </p:nvSpPr>
        <p:spPr>
          <a:xfrm>
            <a:off x="77724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embert tartóztattak le egyetlen nap alatt a római gettóban és a városban</a:t>
            </a:r>
            <a:endParaRPr lang="en-US" sz="1400" dirty="0"/>
          </a:p>
        </p:txBody>
      </p:sp>
      <p:sp>
        <p:nvSpPr>
          <p:cNvPr id="6" name="Kártya"/>
          <p:cNvSpPr/>
          <p:nvPr/>
        </p:nvSpPr>
        <p:spPr>
          <a:xfrm>
            <a:off x="4343400" y="123444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zám"/>
          <p:cNvSpPr txBox="1"/>
          <p:nvPr/>
        </p:nvSpPr>
        <p:spPr>
          <a:xfrm>
            <a:off x="4572000" y="1280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~1 020</a:t>
            </a:r>
            <a:endParaRPr lang="en-US" sz="4600" dirty="0"/>
          </a:p>
        </p:txBody>
      </p:sp>
      <p:sp>
        <p:nvSpPr>
          <p:cNvPr id="8" name="Szám címke"/>
          <p:cNvSpPr txBox="1"/>
          <p:nvPr/>
        </p:nvSpPr>
        <p:spPr>
          <a:xfrm>
            <a:off x="457200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főt deportáltak okt. 18-án Auschwitzba; kb. 800-at az érkezéskor megöltek</a:t>
            </a:r>
            <a:endParaRPr lang="en-US" sz="1400" dirty="0"/>
          </a:p>
        </p:txBody>
      </p:sp>
      <p:sp>
        <p:nvSpPr>
          <p:cNvPr id="9" name="Kártya"/>
          <p:cNvSpPr/>
          <p:nvPr/>
        </p:nvSpPr>
        <p:spPr>
          <a:xfrm>
            <a:off x="8138160" y="1234440"/>
            <a:ext cx="35204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zám"/>
          <p:cNvSpPr txBox="1"/>
          <p:nvPr/>
        </p:nvSpPr>
        <p:spPr>
          <a:xfrm>
            <a:off x="8366760" y="1280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600" dirty="0"/>
          </a:p>
        </p:txBody>
      </p:sp>
      <p:sp>
        <p:nvSpPr>
          <p:cNvPr id="11" name="Szám címke"/>
          <p:cNvSpPr txBox="1"/>
          <p:nvPr/>
        </p:nvSpPr>
        <p:spPr>
          <a:xfrm>
            <a:off x="8366760" y="2194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túlélő tért vissza: 15 férfi és egyetlen nő (Settimia Spizzichino)</a:t>
            </a:r>
            <a:endParaRPr lang="en-US" sz="1400" dirty="0"/>
          </a:p>
        </p:txBody>
      </p:sp>
      <p:sp>
        <p:nvSpPr>
          <p:cNvPr id="12" name="Felsorolás"/>
          <p:cNvSpPr txBox="1"/>
          <p:nvPr/>
        </p:nvSpPr>
        <p:spPr>
          <a:xfrm>
            <a:off x="548640" y="333756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Arany-zsarolás: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szeptember 26-án Herbert Kappler SS-parancsnok 50 kg aranyat követelt a közösségtől „védelem” fejében. Az aranyat összegyűjtötték — a razzia három héttel később mégis megtörtént.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Menekülés: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Róma kb. 12 000 zsidójának többsége elrejtőzött — sokan kolostorokban, egyházi intézményekben, magánlakásokban.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XII. Pius pápa szerepe vitatott: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nyilvánosan nem tiltakozott, ugyanakkor egyházi intézmények sok ezer üldözöttet bújtattak. A 2020-ban megnyitott vatikáni archívumok kutatása ma is folyik.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Összesen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Rómából kb. 2 000 zsidót deportáltak 1943–44-ben.</a:t>
            </a:r>
            <a:endParaRPr lang="en-US" sz="1500" dirty="0"/>
          </a:p>
        </p:txBody>
      </p:sp>
      <p:sp>
        <p:nvSpPr>
          <p:cNvPr id="13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 „Rome”; Picciotto: Il libro della memoria (2002); CDEC; Fondazione Museo della Shoah, Roma.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Táborok és deportálási útvonalak Olaszországban</a:t>
            </a:r>
            <a:endParaRPr lang="en-US" sz="3200" dirty="0"/>
          </a:p>
        </p:txBody>
      </p:sp>
      <p:pic>
        <p:nvPicPr>
          <p:cNvPr id="3" name="Image 0" descr="Olaszország táborai és deportálási útvonal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53712" cy="4800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1188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Fossoli (Carpi)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188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fő gyűjtőtábor 1943 dec. – 1944 júl. Innen vitték el Primo Levit 1944. febr. 22-én egy kb. 650 fős szerelvénnyel.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2157984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Bolzano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157984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Fossoli kiürítése után (1944 nyár) átmeneti tábor; zsidók és politikai foglyok innen Auschwitzba, Flossenbürgbe, Mauthausenbe.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312724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Risiera di San Sabba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Trieszt, közvetlen német uralom alatt (Adriai Partvidék). Rendőrségi fogolytábor krematóriummal: kb. 3–5 000 főt öltek meg (főként partizánokat, szlovén és horvát foglyokat); több mint 1 400 zsidót deportáltak innen.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40965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Borgo San Dalmazzo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0965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Nizzából menekült külföldi zsidók gyűjtőhelye; 1943 novemberében kb. 350 főt deportáltak.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506577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Milánó, 21-es vágány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506577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Stazione Centrale föld alatti vágányáról indultak a szerelvények — ma a Shoah-emlékhely (Memoriale della Shoah).</a:t>
            </a:r>
            <a:endParaRPr lang="en-US" sz="1200" dirty="0"/>
          </a:p>
        </p:txBody>
      </p:sp>
      <p:sp>
        <p:nvSpPr>
          <p:cNvPr id="14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CDEC; Picciotto (2002); Museo della Risiera di San Sabba; Memoriale della Shoah, Milano. A térkép sematikus.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deportálások mérlege számokban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8521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675120" y="118872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elsorolás"/>
          <p:cNvSpPr txBox="1"/>
          <p:nvPr/>
        </p:nvSpPr>
        <p:spPr>
          <a:xfrm>
            <a:off x="6766560" y="4343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 deportáltak kb. 12%-a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élte túl a táborokat.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+ kb. 900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név szerint nem azonosított deportált.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322 főt Olaszországban öltek meg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(pl. Meina, 1943 szept.; Ardeatinus-barlangok, 1944 márc.: a 335 áldozatból 75 zsidó).</a:t>
            </a:r>
            <a:endParaRPr lang="en-US" sz="1400" dirty="0"/>
          </a:p>
        </p:txBody>
      </p:sp>
      <p:sp>
        <p:nvSpPr>
          <p:cNvPr id="6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Picciotto: Il libro della memoria, 3. kiad. (CDEC/Mursia, 2002); ebreidirodi1944.cdec.it. A CDEC folyamatos kutatása kissé magasabb számokat is közöl.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olasz gyarmatok: Rodosz, Kosz és Líbia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kon kör"/>
          <p:cNvSpPr/>
          <p:nvPr/>
        </p:nvSpPr>
        <p:spPr>
          <a:xfrm>
            <a:off x="77724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a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344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08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Dodekanészosz (1912 óta olasz)</a:t>
            </a:r>
            <a:endParaRPr lang="en-US" sz="1800" dirty="0"/>
          </a:p>
        </p:txBody>
      </p:sp>
      <p:sp>
        <p:nvSpPr>
          <p:cNvPr id="7" name="Felsorolás"/>
          <p:cNvSpPr txBox="1"/>
          <p:nvPr/>
        </p:nvSpPr>
        <p:spPr>
          <a:xfrm>
            <a:off x="82296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1944. júl. 23.: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németek kb. 1 700–1 800 rodoszi és koszi zsidót hajóztak Pireuszba, onnan vonaton Auschwitzba (érkezés: aug. 16.) — a háború egyik leghosszabb deportálása.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Kb. 150–180 túlélő;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szefárd ladino nyelvű közösség megszűnt.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Selahattin Ülkümen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török konzul kb. 40 zsidót mentett meg (Világ Igaza).</a:t>
            </a:r>
            <a:endParaRPr lang="en-US" sz="1400" dirty="0"/>
          </a:p>
        </p:txBody>
      </p:sp>
      <p:sp>
        <p:nvSpPr>
          <p:cNvPr id="8" name="Kártya"/>
          <p:cNvSpPr/>
          <p:nvPr/>
        </p:nvSpPr>
        <p:spPr>
          <a:xfrm>
            <a:off x="6263640" y="1234440"/>
            <a:ext cx="534924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kon kör"/>
          <p:cNvSpPr/>
          <p:nvPr/>
        </p:nvSpPr>
        <p:spPr>
          <a:xfrm>
            <a:off x="6492240" y="14630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FaFl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16344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508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Líbia (olasz gyarmat)</a:t>
            </a:r>
            <a:endParaRPr lang="en-US" sz="1800" dirty="0"/>
          </a:p>
        </p:txBody>
      </p:sp>
      <p:sp>
        <p:nvSpPr>
          <p:cNvPr id="12" name="Felsorolás"/>
          <p:cNvSpPr txBox="1"/>
          <p:nvPr/>
        </p:nvSpPr>
        <p:spPr>
          <a:xfrm>
            <a:off x="6537960" y="228600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1938-tól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fajtörvényeket a gyarmaton is alkalmazták.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1942: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Kürenaika zsidóit a giadói (Jadu) táborba internálták; kb. 2 600 fogolyból 562 halt meg tífuszban és éhezésben.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 brit állampolgárságú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líbiai zsidókat Olaszországba, majd Bergen-Belsenbe deportálták.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Tanulság: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„puha” olasz fasizmus képe a gyarmatokon különösen nem állja meg a helyét.</a:t>
            </a:r>
            <a:endParaRPr lang="en-US" sz="1400" dirty="0"/>
          </a:p>
        </p:txBody>
      </p:sp>
      <p:sp>
        <p:nvSpPr>
          <p:cNvPr id="13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CDEC: ebreidirodi1944.cdec.it; Yad Vashem (Ülkümen); USHMM „Libya”; Roumani: The Jews of Libya (2008).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Miért élte túl a többség? — kb. 80%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kon kör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FaC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90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Késői kezdet, rövid idő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Deportálás csak 1943 októberétől; a német megszállás kb. 19 hónapig tartott.</a:t>
            </a:r>
            <a:endParaRPr lang="en-US" sz="1400" dirty="0"/>
          </a:p>
        </p:txBody>
      </p:sp>
      <p:sp>
        <p:nvSpPr>
          <p:cNvPr id="8" name="Kártya"/>
          <p:cNvSpPr/>
          <p:nvPr/>
        </p:nvSpPr>
        <p:spPr>
          <a:xfrm>
            <a:off x="4297680" y="12344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kon kör"/>
          <p:cNvSpPr/>
          <p:nvPr/>
        </p:nvSpPr>
        <p:spPr>
          <a:xfrm>
            <a:off x="452628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490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front közelsége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Dél-Itália 1943-ban felszabadult; Róma 1944. jún. 4-én, Firenze augusztusban.</a:t>
            </a:r>
            <a:endParaRPr lang="en-US" sz="1400" dirty="0"/>
          </a:p>
        </p:txBody>
      </p:sp>
      <p:sp>
        <p:nvSpPr>
          <p:cNvPr id="13" name="Kártya"/>
          <p:cNvSpPr/>
          <p:nvPr/>
        </p:nvSpPr>
        <p:spPr>
          <a:xfrm>
            <a:off x="8046720" y="12344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kon kör"/>
          <p:cNvSpPr/>
          <p:nvPr/>
        </p:nvSpPr>
        <p:spPr>
          <a:xfrm>
            <a:off x="827532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6230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490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Integráció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olasz zsidók nyelvben, kultúrában nem különültek el; széles baráti, szomszédi hálót tudtak mozgósítani.</a:t>
            </a:r>
            <a:endParaRPr lang="en-US" sz="1400" dirty="0"/>
          </a:p>
        </p:txBody>
      </p:sp>
      <p:sp>
        <p:nvSpPr>
          <p:cNvPr id="18" name="Kártya"/>
          <p:cNvSpPr/>
          <p:nvPr/>
        </p:nvSpPr>
        <p:spPr>
          <a:xfrm>
            <a:off x="548640" y="356616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kon kör"/>
          <p:cNvSpPr/>
          <p:nvPr/>
        </p:nvSpPr>
        <p:spPr>
          <a:xfrm>
            <a:off x="777240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FaHandsHelp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954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3822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Mentőhálózatok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572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DELASEM zsidó segélyszervezet, katolikus papok és szerzetesek, partizánok, hamisítók.</a:t>
            </a:r>
            <a:endParaRPr lang="en-US" sz="1400" dirty="0"/>
          </a:p>
        </p:txBody>
      </p:sp>
      <p:sp>
        <p:nvSpPr>
          <p:cNvPr id="23" name="Kártya"/>
          <p:cNvSpPr/>
          <p:nvPr/>
        </p:nvSpPr>
        <p:spPr>
          <a:xfrm>
            <a:off x="4297680" y="356616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kon kör"/>
          <p:cNvSpPr/>
          <p:nvPr/>
        </p:nvSpPr>
        <p:spPr>
          <a:xfrm>
            <a:off x="4526280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FaMount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9547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3822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Földrajz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572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Hegyek, vidéki rejtekhelyek; több ezren menekültek Svájcba.</a:t>
            </a:r>
            <a:endParaRPr lang="en-US" sz="1400" dirty="0"/>
          </a:p>
        </p:txBody>
      </p:sp>
      <p:sp>
        <p:nvSpPr>
          <p:cNvPr id="28" name="Kártya"/>
          <p:cNvSpPr/>
          <p:nvPr/>
        </p:nvSpPr>
        <p:spPr>
          <a:xfrm>
            <a:off x="8046720" y="356616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kon kör"/>
          <p:cNvSpPr/>
          <p:nvPr/>
        </p:nvSpPr>
        <p:spPr>
          <a:xfrm>
            <a:off x="8275320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FaShiel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39547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3822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Gyenge bábállam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572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RSI közigazgatása szétesőben volt; egyes tisztviselők szabotálták az utasításokat.</a:t>
            </a:r>
            <a:endParaRPr lang="en-US" sz="1400" dirty="0"/>
          </a:p>
        </p:txBody>
      </p:sp>
      <p:sp>
        <p:nvSpPr>
          <p:cNvPr id="33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Picciotto: Salvarsi. Gli ebrei d’Italia sfuggiti alla Shoah 1943–1945 (Einaudi, 2017); Zuccotti (1987).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Mentők: olasz Világ Igazai</a:t>
            </a:r>
            <a:endParaRPr lang="en-US" sz="3200" dirty="0"/>
          </a:p>
        </p:txBody>
      </p:sp>
      <p:sp>
        <p:nvSpPr>
          <p:cNvPr id="3" name="Szám"/>
          <p:cNvSpPr txBox="1"/>
          <p:nvPr/>
        </p:nvSpPr>
        <p:spPr>
          <a:xfrm>
            <a:off x="548640" y="1188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810</a:t>
            </a:r>
            <a:endParaRPr lang="en-US" sz="6000" dirty="0"/>
          </a:p>
        </p:txBody>
      </p:sp>
      <p:sp>
        <p:nvSpPr>
          <p:cNvPr id="4" name="Szám címke"/>
          <p:cNvSpPr txBox="1"/>
          <p:nvPr/>
        </p:nvSpPr>
        <p:spPr>
          <a:xfrm>
            <a:off x="54864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olasz állampolgárt ismert el a Yad Vashem a Világ Igaza címmel (2024. jan. 1.)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Az elismerés egyéni, dokumentált mentéseket jelöl — a valódi mentők száma ennél jóval nagyobb.</a:t>
            </a:r>
            <a:endParaRPr lang="en-US" sz="1400" dirty="0"/>
          </a:p>
        </p:txBody>
      </p:sp>
      <p:sp>
        <p:nvSpPr>
          <p:cNvPr id="6" name="Kártya"/>
          <p:cNvSpPr/>
          <p:nvPr/>
        </p:nvSpPr>
        <p:spPr>
          <a:xfrm>
            <a:off x="4206240" y="123444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kon kör"/>
          <p:cNvSpPr/>
          <p:nvPr/>
        </p:nvSpPr>
        <p:spPr>
          <a:xfrm>
            <a:off x="4389120" y="1435608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8" name="Image 0" descr="FaBi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852" y="1577340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74920" y="14356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Gino Bartali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213055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Giro és a Tour de France győztese edzésnek álcázott útjain hamis iratokat csempészett kerékpárvázában Firenze és Assisi között.</a:t>
            </a:r>
            <a:endParaRPr lang="en-US" sz="1300" dirty="0"/>
          </a:p>
        </p:txBody>
      </p:sp>
      <p:sp>
        <p:nvSpPr>
          <p:cNvPr id="11" name="Kártya"/>
          <p:cNvSpPr/>
          <p:nvPr/>
        </p:nvSpPr>
        <p:spPr>
          <a:xfrm>
            <a:off x="7955280" y="123444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kon kör"/>
          <p:cNvSpPr/>
          <p:nvPr/>
        </p:nvSpPr>
        <p:spPr>
          <a:xfrm>
            <a:off x="8138160" y="1435608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1" descr="FaLand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892" y="1577340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823960" y="14356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Giorgio Perlasca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213055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Budapesten 1944 telén spanyol diplomatának adta ki magát, és védett házakban kb. 5 000 zsidót mentett meg — magyar kapcsolat!</a:t>
            </a:r>
            <a:endParaRPr lang="en-US" sz="1300" dirty="0"/>
          </a:p>
        </p:txBody>
      </p:sp>
      <p:sp>
        <p:nvSpPr>
          <p:cNvPr id="16" name="Kártya"/>
          <p:cNvSpPr/>
          <p:nvPr/>
        </p:nvSpPr>
        <p:spPr>
          <a:xfrm>
            <a:off x="4206240" y="361188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kon kör"/>
          <p:cNvSpPr/>
          <p:nvPr/>
        </p:nvSpPr>
        <p:spPr>
          <a:xfrm>
            <a:off x="4389120" y="3813048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2" descr="FaChu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395478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74920" y="38130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Elia Dalla Costa bíboros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389120" y="450799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Firenze érseke; egyházi mentőhálózatot szervezett a DELASEM-mel együttműködve.</a:t>
            </a:r>
            <a:endParaRPr lang="en-US" sz="1300" dirty="0"/>
          </a:p>
        </p:txBody>
      </p:sp>
      <p:sp>
        <p:nvSpPr>
          <p:cNvPr id="21" name="Kártya"/>
          <p:cNvSpPr/>
          <p:nvPr/>
        </p:nvSpPr>
        <p:spPr>
          <a:xfrm>
            <a:off x="7955280" y="3611880"/>
            <a:ext cx="36118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kon kör"/>
          <p:cNvSpPr/>
          <p:nvPr/>
        </p:nvSpPr>
        <p:spPr>
          <a:xfrm>
            <a:off x="8138160" y="3813048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Image 3" descr="FaHandsHelp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2" y="3954780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23960" y="38130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Lorenzo Perrone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138160" y="4507992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Olasz kőműves Auschwitzban; hónapokon át titokban élelmet adott Primo Levinek.</a:t>
            </a:r>
            <a:endParaRPr lang="en-US" sz="1300" dirty="0"/>
          </a:p>
        </p:txBody>
      </p:sp>
      <p:sp>
        <p:nvSpPr>
          <p:cNvPr id="26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Yad Vashem: Righteous Among the Nations – statisztika országonként (2024. jan. 1.); Yad Vashem egyéni adatlapjai (Bartali 2013, Perlasca 1989).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„Italiani brava gente” — mítosz és valóság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háború után elterjedt kép szerint az olaszok „jó emberek” voltak, a holokauszt pedig német import. A kutatás árnyaltabb képet mutat.</a:t>
            </a:r>
            <a:endParaRPr lang="en-US" sz="1500" dirty="0"/>
          </a:p>
        </p:txBody>
      </p:sp>
      <p:sp>
        <p:nvSpPr>
          <p:cNvPr id="4" name="Kártya"/>
          <p:cNvSpPr/>
          <p:nvPr/>
        </p:nvSpPr>
        <p:spPr>
          <a:xfrm>
            <a:off x="548640" y="2011680"/>
            <a:ext cx="539496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ártya"/>
          <p:cNvSpPr/>
          <p:nvPr/>
        </p:nvSpPr>
        <p:spPr>
          <a:xfrm>
            <a:off x="6217920" y="2011680"/>
            <a:ext cx="5394960" cy="3931920"/>
          </a:xfrm>
          <a:prstGeom prst="roundRect">
            <a:avLst>
              <a:gd name="adj" fmla="val 186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Mítosz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148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Valóság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fajtörvényeket a németek kényszerítették ki.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törvények csak papíron léteztek.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Olaszok nem vettek részt a letartóztatásokban.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fasiszta Olaszország általában humánus megszálló volt.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432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1938: olasz kezdeményezés, Berlin nem kérte (Sarfatti).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Szigorú végrehajtás: iskolák, állások, vagyon; a népszámlálási listák 1943 után a letartóztatások alapjául szolgáltak.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1943 után a letartóztatások jelentős részét olasz rendőrök, karabinierik és milicisták hajtották végre; fejpénzért feljelentések.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Etiópia (vegyi fegyverek), Líbia, Jugoszlávia (pl. a rabi tábor szlovén és horvát civil foglyai között 1 400-nál több halott).</a:t>
            </a:r>
            <a:endParaRPr lang="en-US" sz="1400" dirty="0"/>
          </a:p>
        </p:txBody>
      </p:sp>
      <p:sp>
        <p:nvSpPr>
          <p:cNvPr id="10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Sarfatti (2006); Rodogno (2006); Focardi: Il cattivo tedesco e il bravo italiano (2013); Picciotto (2002).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Emlékezet: tanúk, törvények, helyek</a:t>
            </a:r>
            <a:endParaRPr lang="en-US" sz="3200" dirty="0"/>
          </a:p>
        </p:txBody>
      </p:sp>
      <p:sp>
        <p:nvSpPr>
          <p:cNvPr id="3" name="Ikon kör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FaPenNi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34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Primo Levi (1919–1987)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1848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Torinói vegyész; 1944-ben Auschwitzba deportálták. „Ember ez?” (Se questo è un uomo, 1947) a holokauszt-irodalom alapműve.</a:t>
            </a:r>
            <a:endParaRPr lang="en-US" sz="1400" dirty="0"/>
          </a:p>
        </p:txBody>
      </p:sp>
      <p:sp>
        <p:nvSpPr>
          <p:cNvPr id="7" name="Ikon kör"/>
          <p:cNvSpPr/>
          <p:nvPr/>
        </p:nvSpPr>
        <p:spPr>
          <a:xfrm>
            <a:off x="6172200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Fa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4859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95160" y="1234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Liliana Segre (sz. 1930)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95160" y="161848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13 évesen, 1944. jan. 30-án deportálták Milánó 21-es vágányáról. 2018 óta az olasz szenátus örökös tagja.</a:t>
            </a:r>
            <a:endParaRPr lang="en-US" sz="1400" dirty="0"/>
          </a:p>
        </p:txBody>
      </p:sp>
      <p:sp>
        <p:nvSpPr>
          <p:cNvPr id="11" name="Ikon kör"/>
          <p:cNvSpPr/>
          <p:nvPr/>
        </p:nvSpPr>
        <p:spPr>
          <a:xfrm>
            <a:off x="548640" y="2898648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2" descr="FaGav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0586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807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Memória Napja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191256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211/2000. sz. törvény jan. 27-ét (Auschwitz felszabadítása) nemzeti emléknappá nyilvánította.</a:t>
            </a:r>
            <a:endParaRPr lang="en-US" sz="1400" dirty="0"/>
          </a:p>
        </p:txBody>
      </p:sp>
      <p:sp>
        <p:nvSpPr>
          <p:cNvPr id="15" name="Ikon kör"/>
          <p:cNvSpPr/>
          <p:nvPr/>
        </p:nvSpPr>
        <p:spPr>
          <a:xfrm>
            <a:off x="6172200" y="2898648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3" descr="FaLand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305866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95160" y="2807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Emlékhelyek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995160" y="3191256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Memoriale della Shoah (Milánó, 21-es vágány); Risiera di San Sabba nemzeti emlékmű (1965); Fossoli; botlatókövek.</a:t>
            </a:r>
            <a:endParaRPr lang="en-US" sz="1400" dirty="0"/>
          </a:p>
        </p:txBody>
      </p:sp>
      <p:sp>
        <p:nvSpPr>
          <p:cNvPr id="19" name="Ikon kör"/>
          <p:cNvSpPr/>
          <p:nvPr/>
        </p:nvSpPr>
        <p:spPr>
          <a:xfrm>
            <a:off x="548640" y="4471416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4" descr="FaFil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631436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4379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Kultúra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371600" y="4764024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Bassani: A Finzi-Continiak kertje (1962; De Sica filmje, 1970); Benigni: Az élet szép (1997).</a:t>
            </a:r>
            <a:endParaRPr lang="en-US" sz="1400" dirty="0"/>
          </a:p>
        </p:txBody>
      </p:sp>
      <p:sp>
        <p:nvSpPr>
          <p:cNvPr id="23" name="Ikon kör"/>
          <p:cNvSpPr/>
          <p:nvPr/>
        </p:nvSpPr>
        <p:spPr>
          <a:xfrm>
            <a:off x="6172200" y="4471416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4" name="Image 5" descr="FaBoo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4631436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95160" y="4379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Kutatás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6995160" y="4764024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milánói CDEC alapítvány név szerinti adatbázisa a deportáltakról és a mentésről (nomidellashoah.it).</a:t>
            </a:r>
            <a:endParaRPr lang="en-US" sz="1400" dirty="0"/>
          </a:p>
        </p:txBody>
      </p:sp>
      <p:sp>
        <p:nvSpPr>
          <p:cNvPr id="27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Legge 20 luglio 2000, n. 211; Senato della Repubblica; CDEC; Memoriale della Shoah di Milano.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Magyarország — összehasonlító eset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Egy másik tengelyszövetséges, egészen más mérleggel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magyar holokauszt útja 1920–1945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07592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1920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234440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Numerus clausus (1920. évi XXV. tc.) — Európa első háború utáni zsidóellenes törvénye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1762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1938–41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1762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Három zsidótörvény: kvóták, faji definíció, vegyes házasság tilalma (1941)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11810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1941 aug.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118104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Kamenyec-Podolszkij: a kiutasított kb. 16–18 000 „hontalan” zsidót a németek és ukrán segítőik meggyilkolják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5993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1942 jan.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059936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Újvidéki vérengzés: magyar csapatok kb. 3 300 civilt (szerbeket, zsidókat) ölnek meg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219456" cy="21945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0017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1939–45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5001768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Munkaszolgálat: több tízezer zsidó férfi hal meg, főként a keleti fronton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3075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1234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1944. márc. 19.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1234440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Német megszállás; Sztójay-kormány; sárga csillag, gettósítás (ápr. 16-tól)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249424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217627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máj. 15. – júl. 9.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21762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Kb. 437 000 ember deportálása, főként Auschwitzba — magyar csendőrség és közigazgatás végrehajtásával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191256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3118104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okt. 15. 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3118104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Nyilas hatalomátvétel: halálmenetek Hegyeshalomig, Duna-parti kivégzések, budapesti gettó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13308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405993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1945 jan.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059936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Pest felszabadul; a budapesti zsidók egy része túlél (kb. 100–120 000 fő)</a:t>
            </a:r>
            <a:endParaRPr lang="en-US" sz="1300" dirty="0"/>
          </a:p>
        </p:txBody>
      </p:sp>
      <p:sp>
        <p:nvSpPr>
          <p:cNvPr id="30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Braham: The Politics of Genocide (3. kiad., 2016); Holokauszt Emlékközpont (hdke.hu); USHMM „Hungary”.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1944: a leggyorsabb deportálás a holokauszt történetében</a:t>
            </a:r>
            <a:endParaRPr lang="en-US" sz="3200" dirty="0"/>
          </a:p>
        </p:txBody>
      </p:sp>
      <p:pic>
        <p:nvPicPr>
          <p:cNvPr id="3" name="Image 0" descr="Magyarországi deportálások 19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800600"/>
          </a:xfrm>
          <a:prstGeom prst="rect">
            <a:avLst/>
          </a:prstGeom>
        </p:spPr>
      </p:pic>
      <p:sp>
        <p:nvSpPr>
          <p:cNvPr id="4" name="Kártya"/>
          <p:cNvSpPr/>
          <p:nvPr/>
        </p:nvSpPr>
        <p:spPr>
          <a:xfrm>
            <a:off x="7680960" y="11887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zám"/>
          <p:cNvSpPr txBox="1"/>
          <p:nvPr/>
        </p:nvSpPr>
        <p:spPr>
          <a:xfrm>
            <a:off x="7863840" y="11887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~437 000</a:t>
            </a:r>
            <a:endParaRPr lang="en-US" sz="3400" dirty="0"/>
          </a:p>
        </p:txBody>
      </p:sp>
      <p:sp>
        <p:nvSpPr>
          <p:cNvPr id="6" name="Szám címke"/>
          <p:cNvSpPr txBox="1"/>
          <p:nvPr/>
        </p:nvSpPr>
        <p:spPr>
          <a:xfrm>
            <a:off x="7863840" y="21031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deportált 1944. máj. 15. – júl. 9. között, kb. 145–150 szerelvénnyel (Veesenmayer jelentése)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7680960" y="27889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zám"/>
          <p:cNvSpPr txBox="1"/>
          <p:nvPr/>
        </p:nvSpPr>
        <p:spPr>
          <a:xfrm>
            <a:off x="7863840" y="2788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hét</a:t>
            </a:r>
            <a:endParaRPr lang="en-US" sz="3400" dirty="0"/>
          </a:p>
        </p:txBody>
      </p:sp>
      <p:sp>
        <p:nvSpPr>
          <p:cNvPr id="9" name="Szám címke"/>
          <p:cNvSpPr txBox="1"/>
          <p:nvPr/>
        </p:nvSpPr>
        <p:spPr>
          <a:xfrm>
            <a:off x="7863840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alatt — naponta átlagosan 3–4 vonat, egyenként 3 000+ emberrel</a:t>
            </a:r>
            <a:endParaRPr lang="en-US" sz="1400" dirty="0"/>
          </a:p>
        </p:txBody>
      </p:sp>
      <p:sp>
        <p:nvSpPr>
          <p:cNvPr id="10" name="Kártya"/>
          <p:cNvSpPr/>
          <p:nvPr/>
        </p:nvSpPr>
        <p:spPr>
          <a:xfrm>
            <a:off x="7680960" y="43891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zám"/>
          <p:cNvSpPr txBox="1"/>
          <p:nvPr/>
        </p:nvSpPr>
        <p:spPr>
          <a:xfrm>
            <a:off x="7863840" y="4389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3</a:t>
            </a:r>
            <a:endParaRPr lang="en-US" sz="3400" dirty="0"/>
          </a:p>
        </p:txBody>
      </p:sp>
      <p:sp>
        <p:nvSpPr>
          <p:cNvPr id="12" name="Szám címke"/>
          <p:cNvSpPr txBox="1"/>
          <p:nvPr/>
        </p:nvSpPr>
        <p:spPr>
          <a:xfrm>
            <a:off x="7863840" y="53035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Auschwitz minden harmadik áldozata magyarországi zsidó volt</a:t>
            </a:r>
            <a:endParaRPr lang="en-US" sz="1400" dirty="0"/>
          </a:p>
        </p:txBody>
      </p:sp>
      <p:sp>
        <p:nvSpPr>
          <p:cNvPr id="13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Braham (2016); DÖW / Lappin; Anne Frank Ház: „Deportation of Hungarian Jews”. Kb. 200 fős Eichmann-kommandó mellett a végrehajtás a magyar szerveké volt.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Olaszország és Magyarország összevetése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Szempont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Olaszország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Magyarország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Zsidó népesség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~47 000 olasz + ~10 000 külföldi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~825 000 (1941–44-es határok, kitértekkel)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Saját zsidótörvények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1938 (fajtörvények)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1920 (numerus clausus), 1938, 1939, 1941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Saját tömeggyilkosság a megszállás előtt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Nem (Líbiában internálás)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Igen: Kamenyec-Podolszkij, Újvidék, munkaszolgálat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Deportálás a megszállás előtt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Elutasították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Elutasították (de 1941-es kiutasítások)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Német megszállás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1943. szept. 8. → kb. 19 hónap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1944. márc. 19. → kb. 10 hónap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Az állami apparátus szerepe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Gyenge bábállam, részleges részvétel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Csendőrség és közigazgatás teljes részvétele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Tempó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~7 500 deportált 19 hónap alatt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~437 000 deportált 8 hét alatt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Veszteség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~7 500–8 000 (≈16%)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~565 000 (≈69%)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ED"/>
                    </a:solidFill>
                  </a:tcPr>
                </a:tc>
              </a:tr>
            </a:tbl>
          </a:graphicData>
        </a:graphic>
      </p:graphicFrame>
      <p:sp>
        <p:nvSpPr>
          <p:cNvPr id="4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Braham (2016); Picciotto (2002); Steinberg (1990). Kerekített adatok.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Európai összehasonlítás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Hol, hogyan és miért tértek el ennyire a kimenetelek?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Hogyan olvasd a számokat?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kon kör"/>
          <p:cNvSpPr/>
          <p:nvPr/>
        </p:nvSpPr>
        <p:spPr>
          <a:xfrm>
            <a:off x="777240" y="15087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08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Változó határok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1031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háború alatt a határok többször módosultak. Pl. a magyar adatok az 1941–44-es (bővített) területre vonatkoznak, a román adatokból Észak-Erdély hiányzik.</a:t>
            </a:r>
            <a:endParaRPr lang="en-US" sz="1400" dirty="0"/>
          </a:p>
        </p:txBody>
      </p:sp>
      <p:sp>
        <p:nvSpPr>
          <p:cNvPr id="8" name="Kártya"/>
          <p:cNvSpPr/>
          <p:nvPr/>
        </p:nvSpPr>
        <p:spPr>
          <a:xfrm>
            <a:off x="6172200" y="12344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kon kör"/>
          <p:cNvSpPr/>
          <p:nvPr/>
        </p:nvSpPr>
        <p:spPr>
          <a:xfrm>
            <a:off x="6400800" y="15087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6802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508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Becslések, nem pontos számok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210312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nácik a nyilvántartások nagy részét megsemmisítették. Az adatok demográfiai számításokon, deportálási listákon és tanúvallomásokon alapulnak.</a:t>
            </a:r>
            <a:endParaRPr lang="en-US" sz="1400" dirty="0"/>
          </a:p>
        </p:txBody>
      </p:sp>
      <p:sp>
        <p:nvSpPr>
          <p:cNvPr id="13" name="Kártya"/>
          <p:cNvSpPr/>
          <p:nvPr/>
        </p:nvSpPr>
        <p:spPr>
          <a:xfrm>
            <a:off x="548640" y="36118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kon kör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2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40576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Kit számolunk?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44805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Külföldi menekült zsidók, kitértek, „félzsidók” — a források eltérően kezelik őket, ezért ugyanarra az országra több szám is forog.</a:t>
            </a:r>
            <a:endParaRPr lang="en-US" sz="1400" dirty="0"/>
          </a:p>
        </p:txBody>
      </p:sp>
      <p:sp>
        <p:nvSpPr>
          <p:cNvPr id="18" name="Kártya"/>
          <p:cNvSpPr/>
          <p:nvPr/>
        </p:nvSpPr>
        <p:spPr>
          <a:xfrm>
            <a:off x="6172200" y="36118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kon kör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Image 3" descr="FaExclamationTriang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405765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948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Arány vs. abszolút szám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269480" y="44805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arány a közösség sorsát mutatja (pl. Hollandia 73%), az abszolút szám a népirtás méretét (pl. Lengyelország 3 millió).</a:t>
            </a:r>
            <a:endParaRPr lang="en-US" sz="1400" dirty="0"/>
          </a:p>
        </p:txBody>
      </p:sp>
      <p:sp>
        <p:nvSpPr>
          <p:cNvPr id="23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Benz (szerk.): Dimension des Völkermords (1991); Hilberg (2003); USHMM.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Térkép: a zsidó közösségek megölt hányada</a:t>
            </a:r>
            <a:endParaRPr lang="en-US" sz="3200" dirty="0"/>
          </a:p>
        </p:txBody>
      </p:sp>
      <p:pic>
        <p:nvPicPr>
          <p:cNvPr id="3" name="Image 0" descr="Európa térkép: a zsidó közösség megölt hányada országonké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943600" cy="4828032"/>
          </a:xfrm>
          <a:prstGeom prst="rect">
            <a:avLst/>
          </a:prstGeom>
        </p:spPr>
      </p:pic>
      <p:sp>
        <p:nvSpPr>
          <p:cNvPr id="4" name="Felsorolás"/>
          <p:cNvSpPr txBox="1"/>
          <p:nvPr/>
        </p:nvSpPr>
        <p:spPr>
          <a:xfrm>
            <a:off x="6766560" y="1234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Kelet = majdnem teljes pusztulás: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Lengyelország, Litvánia, Lettország, Görögország, Jugoszlávia, Szlovákia 75–90%.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Nyugaton nagy szórás: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Hollandia 73%, Belgium ~40%, Franciaország ~22%, Dánia ~1%.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Szövetségesek is eltérnek: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Magyarország ~69%, Olaszország ~16%, Bulgária régi területe &lt;1%.</a:t>
            </a:r>
            <a:endParaRPr lang="en-US" sz="1500" dirty="0"/>
          </a:p>
        </p:txBody>
      </p:sp>
      <p:sp>
        <p:nvSpPr>
          <p:cNvPr id="5" name="Kártya"/>
          <p:cNvSpPr/>
          <p:nvPr/>
        </p:nvSpPr>
        <p:spPr>
          <a:xfrm>
            <a:off x="6766560" y="4023360"/>
            <a:ext cx="48463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411480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* Románia: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280–380 ezer áldozat a román fennhatóságú területeken (Wiesel-bizottság).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** Bulgária: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megszállt Trákiából és Macedóniából 11 343 főt deportáltak (1943).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*** SZU: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határok és becslések vitatottak. Németország: 1933-as népességhez.</a:t>
            </a:r>
            <a:endParaRPr lang="en-US" sz="1200" dirty="0"/>
          </a:p>
        </p:txBody>
      </p:sp>
      <p:sp>
        <p:nvSpPr>
          <p:cNvPr id="7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USHMM; Benz (1991); Wiesel-bizottság zárójelentése (2004); Braham (2016). Mai határokkal, kerekített középértékek.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Zsidó áldozatok száma országonként (becslés)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ártya"/>
          <p:cNvSpPr/>
          <p:nvPr/>
        </p:nvSpPr>
        <p:spPr>
          <a:xfrm>
            <a:off x="8686800" y="1188720"/>
            <a:ext cx="2926080" cy="47548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elsorolás"/>
          <p:cNvSpPr txBox="1"/>
          <p:nvPr/>
        </p:nvSpPr>
        <p:spPr>
          <a:xfrm>
            <a:off x="8915400" y="1371600"/>
            <a:ext cx="2560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Összesen kb. 5,7–6 millió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áldozat.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Az áldozatok fele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lengyelországi zsidó volt.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Magyarország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harmadik legnagyobb veszteséget szenvedte el — szinte teljesen 1944-ben.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Olaszország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vesztesége abszolút számban kicsi, de minden egyes szám egy név (CDEC).</a:t>
            </a:r>
            <a:endParaRPr lang="en-US" sz="1400" dirty="0"/>
          </a:p>
        </p:txBody>
      </p:sp>
      <p:sp>
        <p:nvSpPr>
          <p:cNvPr id="6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USHMM; Benz (1991); Braham (2016); Wiesel-bizottság (2004, Románia: 280–380 ezer középértéke); Picciotto (2002). Kerekített becslések.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zsidó közösség megölt hányada (%)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USHMM; Benz (1991); Hilberg (2003). Németország és Ausztria: a sok emigráns miatt a megszállás kezdetén ottmaradtakhoz képest jóval magasabb az arány.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Három helyzet, három minta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3520440" cy="4709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Közvetlen német uralom keleten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80–95%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Lengyelország, Baltikum, a Szovjetunió megszállt területei, Szerbia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Gettók, tömeges agyonlövések, megsemmisítő táborok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Nincs saját állam, amely közbeléphetne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4297680" y="1234440"/>
            <a:ext cx="3520440" cy="4709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371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Megszállt nyugati országok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1–75%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06324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Hollandia 73%, Belgium ~40%, Norvégia ~36%, Franciaország ~22%, Dánia ~1%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helyi közigazgatás és a német irányítás típusa döntött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Nagy szerep: menekülési utak, ellenállás</a:t>
            </a:r>
            <a:endParaRPr lang="en-US" sz="1400" dirty="0"/>
          </a:p>
        </p:txBody>
      </p:sp>
      <p:sp>
        <p:nvSpPr>
          <p:cNvPr id="11" name="Kártya"/>
          <p:cNvSpPr/>
          <p:nvPr/>
        </p:nvSpPr>
        <p:spPr>
          <a:xfrm>
            <a:off x="8046720" y="1234440"/>
            <a:ext cx="3520440" cy="4709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371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Tengely-szövetségesek és bábállamok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488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&lt;1–80%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063240"/>
            <a:ext cx="3108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Szlovákia, Horvátország ~80%; Magyarország ~69%; Románia ~44%; Olaszország ~16%; Bulgária, Finnország &lt;1%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Saját törvények, de a deportálásról saját kormányuk döntött — amíg szuverének voltak</a:t>
            </a:r>
            <a:endParaRPr lang="en-US" sz="1400" dirty="0"/>
          </a:p>
        </p:txBody>
      </p:sp>
      <p:sp>
        <p:nvSpPr>
          <p:cNvPr id="15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Fein: Accounting for Genocide (1979); Hilberg (2003); Griffioen &amp; Zeller: Jodenvervolging in Nederland, Frankrijk en België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Országprofilok I.: Nyugat- és Észak-Európa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Hollandia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~73%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Német polgári közigazgatás (Seyss-Inquart), kiváló lakossági nyilvántartás, sík, menekülésre alkalmatlan terep. Westerborkból indultak a vonatok — innen vitték el Anne Frankot is.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6172200" y="123444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Belgium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7383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Katonai közigazgatás, a zsidók nagy része külföldi menekült, de erős ellenállás és mentőhálózat. 1943-ban ellenállók megállították a XX. deportálóvonatot.</a:t>
            </a:r>
            <a:endParaRPr lang="en-US" sz="1400" dirty="0"/>
          </a:p>
        </p:txBody>
      </p:sp>
      <p:sp>
        <p:nvSpPr>
          <p:cNvPr id="11" name="Kártya"/>
          <p:cNvSpPr/>
          <p:nvPr/>
        </p:nvSpPr>
        <p:spPr>
          <a:xfrm>
            <a:off x="548640" y="3630168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Franciaország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~22%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0740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Vichy-rendszer kiszolgáltatta a külföldi zsidókat (Vel d’Hiv razzia, 1942. júl. 16–17.: 13 152 fő), a francia állampolgárok többsége túlélt.</a:t>
            </a:r>
            <a:endParaRPr lang="en-US" sz="1400" dirty="0"/>
          </a:p>
        </p:txBody>
      </p:sp>
      <p:sp>
        <p:nvSpPr>
          <p:cNvPr id="15" name="Kártya"/>
          <p:cNvSpPr/>
          <p:nvPr/>
        </p:nvSpPr>
        <p:spPr>
          <a:xfrm>
            <a:off x="6172200" y="3630168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Dánia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0740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1943 októberében a lakosság halászhajókon kb. 7 200 zsidót menekített Svédországba; a Theresienstadtba deportált kb. 470 főből a legtöbben túlélték.</a:t>
            </a:r>
            <a:endParaRPr lang="en-US" sz="1400" dirty="0"/>
          </a:p>
        </p:txBody>
      </p:sp>
      <p:sp>
        <p:nvSpPr>
          <p:cNvPr id="19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Griffioen &amp; Zeller (2011); Klarsfeld: Le Mémorial de la déportation des Juifs de France (1978/2012); USHMM „Denmark”, „Netherlands”, „Belgium”.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Országprofilok II.: Kelet- és Dél-Európa</a:t>
            </a:r>
            <a:endParaRPr lang="en-US" sz="3200" dirty="0"/>
          </a:p>
        </p:txBody>
      </p:sp>
      <p:sp>
        <p:nvSpPr>
          <p:cNvPr id="3" name="Kártya"/>
          <p:cNvSpPr/>
          <p:nvPr/>
        </p:nvSpPr>
        <p:spPr>
          <a:xfrm>
            <a:off x="548640" y="123444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Lengyelország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legnagyobb közösség (3,3 millió). Gettók (Varsó: ~450 000 fő), megsemmisítő táborok. Ugyanitt működött a Żegota mentőszervezet; a legtöbb Világ Igaza (7 318) lengyel.</a:t>
            </a:r>
            <a:endParaRPr lang="en-US" sz="1400" dirty="0"/>
          </a:p>
        </p:txBody>
      </p:sp>
      <p:sp>
        <p:nvSpPr>
          <p:cNvPr id="7" name="Kártya"/>
          <p:cNvSpPr/>
          <p:nvPr/>
        </p:nvSpPr>
        <p:spPr>
          <a:xfrm>
            <a:off x="6172200" y="123444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Görögország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73836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~84%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0116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Szaloniki szefárd közösségét („a Balkán Jeruzsáleme”) 1943 márc.–aug. között kb. 45 000 fővel szinte teljesen elpusztították. Az olasz zónában a deportálás csak 1943 után kezdődött.</a:t>
            </a:r>
            <a:endParaRPr lang="en-US" sz="1400" dirty="0"/>
          </a:p>
        </p:txBody>
      </p:sp>
      <p:sp>
        <p:nvSpPr>
          <p:cNvPr id="11" name="Kártya"/>
          <p:cNvSpPr/>
          <p:nvPr/>
        </p:nvSpPr>
        <p:spPr>
          <a:xfrm>
            <a:off x="548640" y="3630168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Románia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~44%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0740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Az Antonescu-rendszer saját népirtást hajtott végre (Jászvásár, Odessza, Transznisztria), 1942 őszétől viszont megtagadta a deportálást a lengyelországi táborokba.</a:t>
            </a:r>
            <a:endParaRPr lang="en-US" sz="1400" dirty="0"/>
          </a:p>
        </p:txBody>
      </p:sp>
      <p:sp>
        <p:nvSpPr>
          <p:cNvPr id="15" name="Kártya"/>
          <p:cNvSpPr/>
          <p:nvPr/>
        </p:nvSpPr>
        <p:spPr>
          <a:xfrm>
            <a:off x="6172200" y="3630168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Bulgária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&lt;1%*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0740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1943 márciusában Dimitar Pesev alelnök, az ortodox egyház és a közvélemény tiltakozása megmentette a régi terület kb. 48 000 zsidóját — a megszállt területekről viszont 11 343 főt deportáltak.</a:t>
            </a:r>
            <a:endParaRPr lang="en-US" sz="1400" dirty="0"/>
          </a:p>
        </p:txBody>
      </p:sp>
      <p:sp>
        <p:nvSpPr>
          <p:cNvPr id="19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USHMM; Wiesel-bizottság (2004); Yad Vashem (Righteous statisztika, 2024); Mazower: Salonica, City of Ghosts (2004). *régi terület.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Mitől függött a túlélés? — hat tényező</a:t>
            </a:r>
            <a:endParaRPr lang="en-US" sz="3200" dirty="0"/>
          </a:p>
        </p:txBody>
      </p:sp>
      <p:sp>
        <p:nvSpPr>
          <p:cNvPr id="3" name="Ikon kör"/>
          <p:cNvSpPr/>
          <p:nvPr/>
        </p:nvSpPr>
        <p:spPr>
          <a:xfrm>
            <a:off x="548640" y="13075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FaGlobeEur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67612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344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német ellenőrzés foka és időzítése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1848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Közvetlen uralom keleten szinte teljes pusztulást hozott; a szövetségesek csak a megszállás után vesztették el döntési jogukat (Olaszország 1943, Magyarország 1944).</a:t>
            </a:r>
            <a:endParaRPr lang="en-US" sz="1400" dirty="0"/>
          </a:p>
        </p:txBody>
      </p:sp>
      <p:sp>
        <p:nvSpPr>
          <p:cNvPr id="7" name="Ikon kör"/>
          <p:cNvSpPr/>
          <p:nvPr/>
        </p:nvSpPr>
        <p:spPr>
          <a:xfrm>
            <a:off x="6172200" y="13075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FaBui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467612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95160" y="12344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helyi állam együttműködése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995160" y="161848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Ahol a rendőrség és a közigazgatás végrehajtott (Hollandia, Magyarország 1944), ott gyors és teljes volt a deportálás.</a:t>
            </a:r>
            <a:endParaRPr lang="en-US" sz="1400" dirty="0"/>
          </a:p>
        </p:txBody>
      </p:sp>
      <p:sp>
        <p:nvSpPr>
          <p:cNvPr id="11" name="Ikon kör"/>
          <p:cNvSpPr/>
          <p:nvPr/>
        </p:nvSpPr>
        <p:spPr>
          <a:xfrm>
            <a:off x="548640" y="29077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FaChu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06781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8346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Elitek, egyházak, társadalom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21868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Nyilvános tiltakozás és szolidaritás (Dánia, Bulgária) megakadályozhatta a deportálást.</a:t>
            </a:r>
            <a:endParaRPr lang="en-US" sz="1400" dirty="0"/>
          </a:p>
        </p:txBody>
      </p:sp>
      <p:sp>
        <p:nvSpPr>
          <p:cNvPr id="15" name="Ikon kör"/>
          <p:cNvSpPr/>
          <p:nvPr/>
        </p:nvSpPr>
        <p:spPr>
          <a:xfrm>
            <a:off x="6172200" y="29077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FaIdC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306781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95160" y="28346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Állampolgárság és integráció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995160" y="321868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külföldi, menekült zsidók mindenhol nagyobb veszélyben voltak (Franciaország, Belgium, Olaszország).</a:t>
            </a:r>
            <a:endParaRPr lang="en-US" sz="1400" dirty="0"/>
          </a:p>
        </p:txBody>
      </p:sp>
      <p:sp>
        <p:nvSpPr>
          <p:cNvPr id="19" name="Ikon kör"/>
          <p:cNvSpPr/>
          <p:nvPr/>
        </p:nvSpPr>
        <p:spPr>
          <a:xfrm>
            <a:off x="548640" y="45079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4" descr="Fa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4668012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44348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Földrajz és menekülési utak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1371600" y="481888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Semleges szomszéd (Svájc, Svédország), hegyek, a front közelsége.</a:t>
            </a:r>
            <a:endParaRPr lang="en-US" sz="1400" dirty="0"/>
          </a:p>
        </p:txBody>
      </p:sp>
      <p:sp>
        <p:nvSpPr>
          <p:cNvPr id="23" name="Ikon kör"/>
          <p:cNvSpPr/>
          <p:nvPr/>
        </p:nvSpPr>
        <p:spPr>
          <a:xfrm>
            <a:off x="6172200" y="45079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5" descr="FaC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4668012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95160" y="44348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háború menete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6995160" y="4818888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1943–44-re a vereség nyilvánvaló lett: egyes vezetők elhatárolódtak (Románia 1942, Horthy 1944 júl.).</a:t>
            </a:r>
            <a:endParaRPr lang="en-US" sz="1400" dirty="0"/>
          </a:p>
        </p:txBody>
      </p:sp>
      <p:sp>
        <p:nvSpPr>
          <p:cNvPr id="27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Fein (1979); Hilberg (2003); Griffioen &amp; Zeller (2011); Steinberg (1990).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Világ Igazai országonként (Yad Vashem, 2024)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4300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ártya"/>
          <p:cNvSpPr/>
          <p:nvPr/>
        </p:nvSpPr>
        <p:spPr>
          <a:xfrm>
            <a:off x="8503920" y="1188720"/>
            <a:ext cx="3108960" cy="47548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elsorolás"/>
          <p:cNvSpPr txBox="1"/>
          <p:nvPr/>
        </p:nvSpPr>
        <p:spPr>
          <a:xfrm>
            <a:off x="8732520" y="1371600"/>
            <a:ext cx="2743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28 707 elismert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mentő 51 országból (2024. jan. 1.).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 szám nem „erkölcsi rangsor”: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függ a népesség méretétől, a dokumentáltságtól és attól, hogy a túlélők kérték-e az elismerést.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 cím feltétele: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zsidók önzetlen mentése saját életveszély vállalásával.</a:t>
            </a:r>
            <a:endParaRPr lang="en-US" sz="1400" dirty="0"/>
          </a:p>
        </p:txBody>
      </p:sp>
      <p:sp>
        <p:nvSpPr>
          <p:cNvPr id="6" name="Forrás"/>
          <p:cNvSpPr txBox="1"/>
          <p:nvPr/>
        </p:nvSpPr>
        <p:spPr>
          <a:xfrm>
            <a:off x="548640" y="60533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Forrás: Yad Vashem: Names of Righteous by Country (2024. jan. 1.); Yad Vashem kritériumai (2026).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Összegzés, fogalomtár, források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Amit érdemes megjegyezni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Öt tanulság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234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Olaszországban volt holokauszt.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002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fajtörvények olasz döntésből születtek (1938), 1943 után olasz szervek is részt vettek a letartóztatásokban; kb. 7 500–8 000 áldozat.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76272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762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túlélés nem a véletlen műve.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420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Késői megszállás, közeli front, integráció, mentőhálózatok és gyenge bábállam együtt magyarázzák a kb. 80%-os túlélést.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1810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18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Ugyanaz a „szövetséges” státusz, más kimenetel.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838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Magyarországon az állami apparátus 1944-es teljes részvétele miatt 8 hét alatt kb. 437 000 embert deportáltak.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5993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05993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helyi tényezők döntöttek.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2569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Hollandia és Belgium, Dánia és Norvégia, Bulgária és Románia között hatalmas a különbség — hasonló német nyomás mellett.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0176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0017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Az egyéni döntések számítottak.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Mentők (Bartali, Perlasca, Pesev, dán halászok) és tettesek egyaránt sorsokat határoztak meg.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Fogalomtár</a:t>
            </a:r>
            <a:endParaRPr lang="en-US" sz="3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Fogalom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Jelentés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Soá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Héber „katasztrófa” — a holokauszt zsidó megnevezése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Leggi razziali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Az 1938-as olasz fajtörvények összefoglaló neve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RSI (Salòi Köztársaság)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Mussolini német védnökség alatti bábállama Észak-Olaszországban, 1943–45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Carta di Verona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Az RSI programja (1943. nov.): a zsidók „ellenséges nemzetiségű idegenek”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DELASEM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Olasz zsidó menekültsegélyező szervezet (1939–47), 1943 után illegálisan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CDEC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Milánói kutatóközpont, az olaszországi deportáltak név szerinti adatbázisának gazdája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Einsatzgruppen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SS-alakulatok, amelyek keleten tömeges agyonlövéseket hajtottak végre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Munkaszolgálat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Magyar kényszermunka-rendszer zsidó férfiak számára (1939–45)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Világ Igaza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A Yad Vashem kitüntetése zsidókat életveszélyben mentő nem zsidóknak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1C24"/>
                          </a:solidFill>
                        </a:rPr>
                        <a:t>Porajmos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1C24"/>
                          </a:solidFill>
                        </a:rPr>
                        <a:t>A romák népirtásának megnevezése</a:t>
                      </a:r>
                      <a:endParaRPr lang="en-US" sz="13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Források és ajánlott irodalom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Szakirodalom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Picciotto, L.: Il libro della memoria. Gli ebrei deportati dall’Italia (1943–1945). Mursia/CDEC, 1991, 3. kiad. 2002.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Picciotto, L.: Salvarsi. Gli ebrei d’Italia sfuggiti alla Shoah 1943–1945. Einaudi, 2017.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Sarfatti, M.: The Jews in Mussolini’s Italy. University of Wisconsin Press, 2006.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Zuccotti, S.: The Italians and the Holocaust. Basic Books, 1987.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Steinberg, J.: All or Nothing. The Axis and the Holocaust 1941–43. Routledge, 1990.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Rodogno, D.: Fascism’s European Empire. Cambridge UP, 2006.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Braham, R. L.: The Politics of Genocide. The Holocaust in Hungary. 3. kiad., 2016.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Hilberg, R.: The Destruction of the European Jews. 3. kiad., Yale UP, 2003.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Fein, H.: Accounting for Genocide. Free Press, 1979.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Benz, W. (szerk.): Dimension des Völkermords. Oldenbourg, 1991.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Gilbert, M.: The Routledge Atlas of the Holocaust. 4. kiad., 2009.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Levi, P.: Ember ez? (Se questo è un uomo, 1947) — magyarul is olvasható.</a:t>
            </a:r>
            <a:endParaRPr lang="en-US" sz="1200" dirty="0"/>
          </a:p>
        </p:txBody>
      </p:sp>
      <p:sp>
        <p:nvSpPr>
          <p:cNvPr id="5" name="Kártya"/>
          <p:cNvSpPr/>
          <p:nvPr/>
        </p:nvSpPr>
        <p:spPr>
          <a:xfrm>
            <a:off x="7589520" y="1143000"/>
            <a:ext cx="4023360" cy="502920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Online adatbázisok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1691640"/>
            <a:ext cx="3611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USHMM Holocaust Encyclopedia — encyclopedia.ushmm.org (Italy, Rome, Hungary, Righteous)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Yad Vashem — yadvashem.org (Righteous statisztika, 2024. jan. 1.)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CDEC — cdec.it, nomidellashoah.it, ebreidirodi1944.cdec.it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Holokauszt Emlékközpont, Budapest — hdke.hu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Memoriale della Shoah, Milánó — memorialeshoah.it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Wiesel-bizottság zárójelentése (Románia), 2004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Anne Frank Ház — annefrank.org (Hungarian deportations)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„Megtörtént, tehát újra megtörténhet.”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</a:rPr>
              <a:t>Primo Levi: A megfojtottak és a megmenekültek (1986) — szabad fordítás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Emlékezni azért, hogy megértsük — és megértsük, hogy felismerjük.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lekezet">
  <a:themeElements>
    <a:clrScheme name="Emlekezet">
      <a:dk1>
        <a:srgbClr val="1C1C24"/>
      </a:dk1>
      <a:lt1>
        <a:srgbClr val="FFFFFF"/>
      </a:lt1>
      <a:dk2>
        <a:srgbClr val="2B2D3A"/>
      </a:dk2>
      <a:lt2>
        <a:srgbClr val="F1F2F4"/>
      </a:lt2>
      <a:accent1>
        <a:srgbClr val="8B1E1E"/>
      </a:accent1>
      <a:accent2>
        <a:srgbClr val="4A5568"/>
      </a:accent2>
      <a:accent3>
        <a:srgbClr val="B08D57"/>
      </a:accent3>
      <a:accent4>
        <a:srgbClr val="6B7280"/>
      </a:accent4>
      <a:accent5>
        <a:srgbClr val="C96A5A"/>
      </a:accent5>
      <a:accent6>
        <a:srgbClr val="2F4858"/>
      </a:accent6>
      <a:hlink>
        <a:srgbClr val="8B1E1E"/>
      </a:hlink>
      <a:folHlink>
        <a:srgbClr val="6B7280"/>
      </a:folHlink>
    </a:clrScheme>
    <a:fontScheme name="Emlekez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 olasz holokauszt és Európa</dc:title>
  <dc:subject>Holokauszt Olaszországban, Magyarországon és Európában</dc:subject>
  <dc:creator>Kutatási összefoglaló</dc:creator>
  <cp:lastModifiedBy>Kutatási összefoglaló</cp:lastModifiedBy>
  <cp:revision>1</cp:revision>
  <dcterms:created xsi:type="dcterms:W3CDTF">2026-10-11T09:04:08Z</dcterms:created>
  <dcterms:modified xsi:type="dcterms:W3CDTF">2026-10-11T09:04:08Z</dcterms:modified>
</cp:coreProperties>
</file>