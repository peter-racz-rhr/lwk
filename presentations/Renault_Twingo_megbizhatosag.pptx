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ő" id="{95ec64fc-4f8e-c052-26a0-9eb235776dd1}">
          <p14:sldIdLst>
            <p14:sldId id="256"/>
            <p14:sldId id="257"/>
          </p14:sldIdLst>
        </p14:section>
        <p14:section name="Az autó" id="{61a1857e-60cb-f336-6df6-4b0d292bcba7}">
          <p14:sldIdLst>
            <p14:sldId id="258"/>
            <p14:sldId id="259"/>
          </p14:sldIdLst>
        </p14:section>
        <p14:section name="Megbízhatóság" id="{05f70a02-fbed-1846-e209-353925b48472}">
          <p14:sldIdLst>
            <p14:sldId id="260"/>
            <p14:sldId id="261"/>
          </p14:sldIdLst>
        </p14:section>
        <p14:section name="Vásárlás" id="{52d758fa-828b-230a-308a-412799cf50d1}">
          <p14:sldIdLst>
            <p14:sldId id="262"/>
            <p14:sldId id="263"/>
          </p14:sldIdLst>
        </p14:section>
        <p14:section name="Fenntartás" id="{3a8480ae-f344-8e74-0edb-3ff861727271}">
          <p14:sldIdLst>
            <p14:sldId id="264"/>
            <p14:sldId id="265"/>
          </p14:sldIdLst>
        </p14:section>
        <p14:section name="Ítélet" id="{aba0cbd6-e576-1744-baf4-e77621feb097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4F4F5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4F4F5"/>
                </a:solidFill>
                <a:latin typeface="+mn-lt"/>
              </a:rPr>
              <a:t>Műszaki vizsgán elbukott autók aránya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Twingo II</c:v>
                </c:pt>
              </c:strCache>
            </c:strRef>
          </c:tx>
          <c:spPr>
            <a:solidFill>
              <a:srgbClr val="EF5A5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4F4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10–11 éves</c:v>
                  </c:pt>
                  <c:pt idx="1">
                    <c:v>12–13 éves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F4F4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4F4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4F4F5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4F4F5"/>
                </a:solidFill>
                <a:latin typeface="+mn-lt"/>
              </a:rPr>
              <a:t>Reális vételár-sáv (millió Ft)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alap</c:v>
                </c:pt>
              </c:strCache>
            </c:strRef>
          </c:tx>
          <c:spPr>
            <a:solidFill>
              <a:srgbClr val="2224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Twingo I (1998–2007)</c:v>
                  </c:pt>
                  <c:pt idx="1">
                    <c:v>Twingo II (2008–2014)</c:v>
                  </c:pt>
                  <c:pt idx="2">
                    <c:v>Twingo III SCe (2014–2018)</c:v>
                  </c:pt>
                  <c:pt idx="3">
                    <c:v>Twingo III SCe (2019–2024)</c:v>
                  </c:pt>
                  <c:pt idx="4">
                    <c:v>E-Tech Electric (2020–24)</c:v>
                  </c:pt>
                  <c:pt idx="5">
                    <c:v>Új E-Tech (2026)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</c:v>
                </c:pt>
                <c:pt idx="1">
                  <c:v>0.7</c:v>
                </c:pt>
                <c:pt idx="2">
                  <c:v>1.8</c:v>
                </c:pt>
                <c:pt idx="3">
                  <c:v>2.8</c:v>
                </c:pt>
                <c:pt idx="4">
                  <c:v>3.5</c:v>
                </c:pt>
                <c:pt idx="5">
                  <c:v>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sáv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Twingo I (1998–2007)</c:v>
                  </c:pt>
                  <c:pt idx="1">
                    <c:v>Twingo II (2008–2014)</c:v>
                  </c:pt>
                  <c:pt idx="2">
                    <c:v>Twingo III SCe (2014–2018)</c:v>
                  </c:pt>
                  <c:pt idx="3">
                    <c:v>Twingo III SCe (2019–2024)</c:v>
                  </c:pt>
                  <c:pt idx="4">
                    <c:v>E-Tech Electric (2020–24)</c:v>
                  </c:pt>
                  <c:pt idx="5">
                    <c:v>Új E-Tech (2026)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1.1</c:v>
                </c:pt>
                <c:pt idx="2">
                  <c:v>1.2</c:v>
                </c:pt>
                <c:pt idx="3">
                  <c:v>1.4</c:v>
                </c:pt>
                <c:pt idx="4">
                  <c:v>2</c:v>
                </c:pt>
                <c:pt idx="5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4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b"/>
        <c:majorGridlines>
          <c:spPr>
            <a:ln w="9525" cap="flat">
              <a:solidFill>
                <a:srgbClr val="2C2F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6B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4F4F5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4F4F5"/>
                </a:solidFill>
                <a:latin typeface="+mn-lt"/>
              </a:rPr>
              <a:t>Éves költség (ezer Ft, 10 000 km/év)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1.0 SCe benzines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4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Üzemanyag / áram</c:v>
                  </c:pt>
                  <c:pt idx="1">
                    <c:v>Szerviz, kopóalkatrész</c:v>
                  </c:pt>
                  <c:pt idx="2">
                    <c:v>Kötelező biztosítás</c:v>
                  </c:pt>
                  <c:pt idx="3">
                    <c:v>Gumi</c:v>
                  </c:pt>
                  <c:pt idx="4">
                    <c:v>Gépjárműadó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348</c:v>
                </c:pt>
                <c:pt idx="1">
                  <c:v>90</c:v>
                </c:pt>
                <c:pt idx="2">
                  <c:v>60</c:v>
                </c:pt>
                <c:pt idx="3">
                  <c:v>30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E-Tech Electric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4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Üzemanyag / áram</c:v>
                  </c:pt>
                  <c:pt idx="1">
                    <c:v>Szerviz, kopóalkatrész</c:v>
                  </c:pt>
                  <c:pt idx="2">
                    <c:v>Kötelező biztosítás</c:v>
                  </c:pt>
                  <c:pt idx="3">
                    <c:v>Gumi</c:v>
                  </c:pt>
                  <c:pt idx="4">
                    <c:v>Gépjárműadó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</c:v>
                </c:pt>
                <c:pt idx="1">
                  <c:v>50</c:v>
                </c:pt>
                <c:pt idx="2">
                  <c:v>65</c:v>
                </c:pt>
                <c:pt idx="3">
                  <c:v>35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4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4F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F4F4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Nyitás: a Twingo Európa egyik legismertebb városi autója 1993 óta. A kérdés: megbízható-e, és melyiket érdemes használtan megvenni.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szám, ami összefoglalja a Twingót: a Twingo II rossz TÜV-eredménye, a III-as zseniális fordulóköre és a reális élettartam. Az ítélet: generációtól és motortól függ minden.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Balról jobbra: Twingo I, II, III és az új, 2026-os E-Tech. A 3D-modellek stilizált illusztrációk. A III-as a legérdekesebb: a motor hátul van, mint egy Porsche 911-ben.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Röntgennézet: a motor a hátsó tengely fölött, a csomagtér alatt. Előny: fordulókör, jó tapadás induláskor. Hátrány: a motorhoz nehezebb hozzáférni, ezért drágább lehet a szerelés munkadíja, a csomagtér padlója magasabb.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Forrás: TÜV-Report, AUTO BILD összesítés. A 12–13 éves Twingo II a korosztályában a legrosszabb: majdnem minden második autó elbukik. A hibák viszont jellemzően futómű, fék, olajszivárgás – vagyis karbantartási kérdések.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árak független szervizre vonatkozó, tájékoztató becslések forintban (alkatrész + munka), márkaszervizben magasabbak lehetnek. A legfontosabb: 2014–2015-ös EDC automatát ne vegyél.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legjobb ár-érték: 2016 utáni Twingo III 1.0 SCe, lehetőleg 2019 utáni (Phase 2, 65–75 LE). Ha csak városban jársz és tudsz otthon tölteni, az E-Tech Electric a legolcsóbb üzemeltetésű.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sárga sávok a reális vételár-tartományt mutatják forintban. Az új E-Tech kb. 19 490 eurós listaára átváltva nagyjából 7,6–8 millió Ft, kedvezmények nélkül.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benzines Twingo évente nagyjából félmillió forintba kerül 10 000 km mellett, ennek kétharmada üzemanyag. Az elektromos verzió fele ennyiből kijön, ha otthon tudsz tölteni. A gépjárműadó az autó korától és kW-teljesítményétől függ; az elektromos 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Karbantartási menetrend tájékoztató jelleggel, független szervizárakkal. A 250–300 ezer km elérhető, de egy 3 millió forintot érő autónál a nagyobb javítások gyorsan gazdaságtalanná válnak.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Elvárások: a Twingo a városban zseniális, autópályán elmegy, de nem kényelmes. Ha sokat autópályázol vagy családi autó kell, nézz nagyobbat.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Ezt a listát vidd magaddal a megtekintésre. A legjobb befektetés egy 20–40 ezer forintos független átvizsgálás vagy eredetvizsgálat vásárlás előtt.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Összegzés: a Twingo nem a legmegbízhatóbb kisautó (egy Toyota Aygo vagy Suzuki Ignis megbízhatóbb), de olcsó, vidám és jól javítható. A generáció- és motorválasztás többet számít, mint a márka.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Renault Twingo · megbízhatósági kalauz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disc"/>
          <p:cNvSpPr/>
          <p:nvPr/>
        </p:nvSpPr>
        <p:spPr>
          <a:xfrm>
            <a:off x="6309360" y="960120"/>
            <a:ext cx="5394960" cy="5394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scene3d>
            <a:camera prst="orthographicFront"/>
            <a:lightRig rig="threePt" dir="t"/>
          </a:scene3d>
          <a:sp3d prstMaterial="softEdge">
            <a:bevelT w="254000" h="101600" prst="relaxedInset"/>
          </a:sp3d>
        </p:spPr>
      </p:sp>
      <p:sp>
        <p:nvSpPr>
          <p:cNvPr id="3" name="3D-disc2"/>
          <p:cNvSpPr/>
          <p:nvPr/>
        </p:nvSpPr>
        <p:spPr>
          <a:xfrm>
            <a:off x="6995160" y="1645920"/>
            <a:ext cx="4023360" cy="4023360"/>
          </a:xfrm>
          <a:prstGeom prst="ellipse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softEdge">
            <a:bevelT w="254000" h="101600" prst="relaxedInset"/>
          </a:sp3d>
        </p:spPr>
      </p:sp>
      <p:pic>
        <p:nvPicPr>
          <p:cNvPr id="4" name="!!car" descr="Renault Twingo 3D illusztráci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011680"/>
            <a:ext cx="6035040" cy="3938169"/>
          </a:xfrm>
          <a:prstGeom prst="rect">
            <a:avLst/>
          </a:prstGeom>
        </p:spPr>
      </p:pic>
      <p:sp>
        <p:nvSpPr>
          <p:cNvPr id="5" name="obj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HASZNÁLTAUTÓ-KALAUZ · 2026</a:t>
            </a:r>
            <a:endParaRPr lang="en-US" sz="1400" dirty="0"/>
          </a:p>
        </p:txBody>
      </p:sp>
      <p:sp>
        <p:nvSpPr>
          <p:cNvPr id="6" name="3DT-title"/>
          <p:cNvSpPr txBox="1"/>
          <p:nvPr/>
        </p:nvSpPr>
        <p:spPr>
          <a:xfrm>
            <a:off x="548640" y="18288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Renault Twingo</a:t>
            </a:r>
            <a:endParaRPr lang="en-US" sz="5400" dirty="0"/>
          </a:p>
        </p:txBody>
      </p:sp>
      <p:sp>
        <p:nvSpPr>
          <p:cNvPr id="7" name="obj2"/>
          <p:cNvSpPr txBox="1"/>
          <p:nvPr/>
        </p:nvSpPr>
        <p:spPr>
          <a:xfrm>
            <a:off x="548640" y="2971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Mennyire megbízható?</a:t>
            </a:r>
            <a:endParaRPr lang="en-US" sz="3200" dirty="0"/>
          </a:p>
        </p:txBody>
      </p:sp>
      <p:sp>
        <p:nvSpPr>
          <p:cNvPr id="8" name="obj3"/>
          <p:cNvSpPr txBox="1"/>
          <p:nvPr/>
        </p:nvSpPr>
        <p:spPr>
          <a:xfrm>
            <a:off x="548640" y="3931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Generációk, gyakori hibák, használt árak, fenntartás és élettartam – minden, amit vásárlás előtt tudni érdemes.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1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25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62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37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12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lényeg 30 másodpercben</a:t>
            </a:r>
            <a:endParaRPr lang="en-US" sz="3200" dirty="0"/>
          </a:p>
        </p:txBody>
      </p:sp>
      <p:sp>
        <p:nvSpPr>
          <p:cNvPr id="3" name="3D-card-4"/>
          <p:cNvSpPr/>
          <p:nvPr/>
        </p:nvSpPr>
        <p:spPr>
          <a:xfrm>
            <a:off x="548640" y="141732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4" name="3DT-stat0"/>
          <p:cNvSpPr txBox="1"/>
          <p:nvPr/>
        </p:nvSpPr>
        <p:spPr>
          <a:xfrm>
            <a:off x="82296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41,5%</a:t>
            </a:r>
            <a:endParaRPr lang="en-US" sz="4400" dirty="0"/>
          </a:p>
        </p:txBody>
      </p:sp>
      <p:sp>
        <p:nvSpPr>
          <p:cNvPr id="5" name="obj5"/>
          <p:cNvSpPr txBox="1"/>
          <p:nvPr/>
        </p:nvSpPr>
        <p:spPr>
          <a:xfrm>
            <a:off x="82296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TÜV-hibaarány a 12–13 éves Twingo II-nél: a korosztály egyik legrosszabbja</a:t>
            </a:r>
            <a:endParaRPr lang="en-US" sz="1500" dirty="0"/>
          </a:p>
        </p:txBody>
      </p:sp>
      <p:sp>
        <p:nvSpPr>
          <p:cNvPr id="6" name="3D-card-6"/>
          <p:cNvSpPr/>
          <p:nvPr/>
        </p:nvSpPr>
        <p:spPr>
          <a:xfrm>
            <a:off x="4297680" y="141732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7" name="3DT-stat1"/>
          <p:cNvSpPr txBox="1"/>
          <p:nvPr/>
        </p:nvSpPr>
        <p:spPr>
          <a:xfrm>
            <a:off x="457200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 m</a:t>
            </a:r>
            <a:endParaRPr lang="en-US" sz="4400" dirty="0"/>
          </a:p>
        </p:txBody>
      </p:sp>
      <p:sp>
        <p:nvSpPr>
          <p:cNvPr id="8" name="obj7"/>
          <p:cNvSpPr txBox="1"/>
          <p:nvPr/>
        </p:nvSpPr>
        <p:spPr>
          <a:xfrm>
            <a:off x="457200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fordulókör a Twingo III-nál: a hátsó motor miatt szinte helyben fordul</a:t>
            </a:r>
            <a:endParaRPr lang="en-US" sz="1500" dirty="0"/>
          </a:p>
        </p:txBody>
      </p:sp>
      <p:sp>
        <p:nvSpPr>
          <p:cNvPr id="9" name="3D-card-8"/>
          <p:cNvSpPr/>
          <p:nvPr/>
        </p:nvSpPr>
        <p:spPr>
          <a:xfrm>
            <a:off x="8046720" y="1417320"/>
            <a:ext cx="34747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0" name="3DT-stat2"/>
          <p:cNvSpPr txBox="1"/>
          <p:nvPr/>
        </p:nvSpPr>
        <p:spPr>
          <a:xfrm>
            <a:off x="832104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250e+ km</a:t>
            </a:r>
            <a:endParaRPr lang="en-US" sz="4400" dirty="0"/>
          </a:p>
        </p:txBody>
      </p:sp>
      <p:sp>
        <p:nvSpPr>
          <p:cNvPr id="11" name="obj9"/>
          <p:cNvSpPr txBox="1"/>
          <p:nvPr/>
        </p:nvSpPr>
        <p:spPr>
          <a:xfrm>
            <a:off x="832104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reális élettartam az 1.0 SCe motorral, rendszeres karbantartással</a:t>
            </a:r>
            <a:endParaRPr lang="en-US" sz="1500" dirty="0"/>
          </a:p>
        </p:txBody>
      </p:sp>
      <p:sp>
        <p:nvSpPr>
          <p:cNvPr id="12" name="3D-card-10"/>
          <p:cNvSpPr/>
          <p:nvPr/>
        </p:nvSpPr>
        <p:spPr>
          <a:xfrm>
            <a:off x="548640" y="4251960"/>
            <a:ext cx="11094415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3" name="3D-dot-11"/>
          <p:cNvSpPr/>
          <p:nvPr/>
        </p:nvSpPr>
        <p:spPr>
          <a:xfrm>
            <a:off x="868680" y="47091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4" name="obj12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4935017"/>
            <a:ext cx="416966" cy="416966"/>
          </a:xfrm>
          <a:prstGeom prst="rect">
            <a:avLst/>
          </a:prstGeom>
        </p:spPr>
      </p:pic>
      <p:sp>
        <p:nvSpPr>
          <p:cNvPr id="15" name="obj13"/>
          <p:cNvSpPr txBox="1"/>
          <p:nvPr/>
        </p:nvSpPr>
        <p:spPr>
          <a:xfrm>
            <a:off x="2011680" y="4434840"/>
            <a:ext cx="9326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Ítélet: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jó, olcsón fenntartható városi autó – ha a megfelelő generációt választod. A legbiztosabb vétel a 2016 utáni Twingo III 1.0 SCe vagy a Twingo E-Tech Electric. A Twingo II-nél a futómű, a fékek és a rozsda a gyenge pont.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37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74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11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Négy generáció, négy karakter</a:t>
            </a:r>
            <a:endParaRPr lang="en-US" sz="3200" dirty="0"/>
          </a:p>
        </p:txBody>
      </p:sp>
      <p:pic>
        <p:nvPicPr>
          <p:cNvPr id="3" name="!!lineup" descr="Renault Twingo 3D illusztráci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4415" cy="1534930"/>
          </a:xfrm>
          <a:prstGeom prst="rect">
            <a:avLst/>
          </a:prstGeom>
        </p:spPr>
      </p:pic>
      <p:sp>
        <p:nvSpPr>
          <p:cNvPr id="4" name="3D-card-14"/>
          <p:cNvSpPr/>
          <p:nvPr/>
        </p:nvSpPr>
        <p:spPr>
          <a:xfrm>
            <a:off x="548640" y="301752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5" name="obj15"/>
          <p:cNvSpPr txBox="1"/>
          <p:nvPr/>
        </p:nvSpPr>
        <p:spPr>
          <a:xfrm>
            <a:off x="77724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Twingo I</a:t>
            </a:r>
            <a:endParaRPr lang="en-US" sz="2000" dirty="0"/>
          </a:p>
        </p:txBody>
      </p:sp>
      <p:sp>
        <p:nvSpPr>
          <p:cNvPr id="6" name="obj16"/>
          <p:cNvSpPr txBox="1"/>
          <p:nvPr/>
        </p:nvSpPr>
        <p:spPr>
          <a:xfrm>
            <a:off x="77724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1993–2007</a:t>
            </a:r>
            <a:endParaRPr lang="en-US" sz="1400" dirty="0"/>
          </a:p>
        </p:txBody>
      </p:sp>
      <p:sp>
        <p:nvSpPr>
          <p:cNvPr id="7" name="obj17"/>
          <p:cNvSpPr txBox="1"/>
          <p:nvPr/>
        </p:nvSpPr>
        <p:spPr>
          <a:xfrm>
            <a:off x="777240" y="4160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Egyterű „mosolygós” forma, 1.2 benzines (D7F). Egyszerű technika, de ma már 20+ éves és rozsdás.</a:t>
            </a:r>
            <a:endParaRPr lang="en-US" sz="1400" dirty="0"/>
          </a:p>
        </p:txBody>
      </p:sp>
      <p:sp>
        <p:nvSpPr>
          <p:cNvPr id="8" name="3D-card-18"/>
          <p:cNvSpPr/>
          <p:nvPr/>
        </p:nvSpPr>
        <p:spPr>
          <a:xfrm>
            <a:off x="3355848" y="301752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9" name="obj19"/>
          <p:cNvSpPr txBox="1"/>
          <p:nvPr/>
        </p:nvSpPr>
        <p:spPr>
          <a:xfrm>
            <a:off x="358444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Twingo II</a:t>
            </a:r>
            <a:endParaRPr lang="en-US" sz="2000" dirty="0"/>
          </a:p>
        </p:txBody>
      </p:sp>
      <p:sp>
        <p:nvSpPr>
          <p:cNvPr id="10" name="obj20"/>
          <p:cNvSpPr txBox="1"/>
          <p:nvPr/>
        </p:nvSpPr>
        <p:spPr>
          <a:xfrm>
            <a:off x="3584448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2007–2014</a:t>
            </a:r>
            <a:endParaRPr lang="en-US" sz="1400" dirty="0"/>
          </a:p>
        </p:txBody>
      </p:sp>
      <p:sp>
        <p:nvSpPr>
          <p:cNvPr id="11" name="obj21"/>
          <p:cNvSpPr txBox="1"/>
          <p:nvPr/>
        </p:nvSpPr>
        <p:spPr>
          <a:xfrm>
            <a:off x="3584448" y="4160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Clio-alapú, hagyományos ferdehátú. 1.2 16V és 1.5 dCi. Itt a legrosszabbak a TÜV-adatok.</a:t>
            </a:r>
            <a:endParaRPr lang="en-US" sz="1400" dirty="0"/>
          </a:p>
        </p:txBody>
      </p:sp>
      <p:sp>
        <p:nvSpPr>
          <p:cNvPr id="12" name="3D-card-22"/>
          <p:cNvSpPr/>
          <p:nvPr/>
        </p:nvSpPr>
        <p:spPr>
          <a:xfrm>
            <a:off x="6163056" y="301752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3" name="obj23"/>
          <p:cNvSpPr txBox="1"/>
          <p:nvPr/>
        </p:nvSpPr>
        <p:spPr>
          <a:xfrm>
            <a:off x="6391656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Twingo III</a:t>
            </a:r>
            <a:endParaRPr lang="en-US" sz="2000" dirty="0"/>
          </a:p>
        </p:txBody>
      </p:sp>
      <p:sp>
        <p:nvSpPr>
          <p:cNvPr id="14" name="obj24"/>
          <p:cNvSpPr txBox="1"/>
          <p:nvPr/>
        </p:nvSpPr>
        <p:spPr>
          <a:xfrm>
            <a:off x="6391656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2014–2024</a:t>
            </a:r>
            <a:endParaRPr lang="en-US" sz="1400" dirty="0"/>
          </a:p>
        </p:txBody>
      </p:sp>
      <p:sp>
        <p:nvSpPr>
          <p:cNvPr id="15" name="obj25"/>
          <p:cNvSpPr txBox="1"/>
          <p:nvPr/>
        </p:nvSpPr>
        <p:spPr>
          <a:xfrm>
            <a:off x="6391656" y="4160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Hátsó motor, hátsókerék-hajtás, smart forfour testvér. 1.0 SCe, 0.9 TCe, 2020-tól elektromos.</a:t>
            </a:r>
            <a:endParaRPr lang="en-US" sz="1400" dirty="0"/>
          </a:p>
        </p:txBody>
      </p:sp>
      <p:sp>
        <p:nvSpPr>
          <p:cNvPr id="16" name="3D-card-26"/>
          <p:cNvSpPr/>
          <p:nvPr/>
        </p:nvSpPr>
        <p:spPr>
          <a:xfrm>
            <a:off x="8970264" y="301752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7" name="obj27"/>
          <p:cNvSpPr txBox="1"/>
          <p:nvPr/>
        </p:nvSpPr>
        <p:spPr>
          <a:xfrm>
            <a:off x="919886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Twingo E-Tech</a:t>
            </a:r>
            <a:endParaRPr lang="en-US" sz="2000" dirty="0"/>
          </a:p>
        </p:txBody>
      </p:sp>
      <p:sp>
        <p:nvSpPr>
          <p:cNvPr id="18" name="obj28"/>
          <p:cNvSpPr txBox="1"/>
          <p:nvPr/>
        </p:nvSpPr>
        <p:spPr>
          <a:xfrm>
            <a:off x="9198864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2026–</a:t>
            </a:r>
            <a:endParaRPr lang="en-US" sz="1400" dirty="0"/>
          </a:p>
        </p:txBody>
      </p:sp>
      <p:sp>
        <p:nvSpPr>
          <p:cNvPr id="19" name="obj29"/>
          <p:cNvSpPr txBox="1"/>
          <p:nvPr/>
        </p:nvSpPr>
        <p:spPr>
          <a:xfrm>
            <a:off x="9198864" y="41605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Új, csak elektromos, retró forma. 27,5 kWh LFP akku, 263 km WLTP, kb. 19 500 € induló ár.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1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25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Twingo III: a motor hátul van</a:t>
            </a:r>
            <a:endParaRPr lang="en-US" sz="3200" dirty="0"/>
          </a:p>
        </p:txBody>
      </p:sp>
      <p:pic>
        <p:nvPicPr>
          <p:cNvPr id="3" name="!!car" descr="Renault Twingo 3D illusztráci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035040" cy="3863319"/>
          </a:xfrm>
          <a:prstGeom prst="rect">
            <a:avLst/>
          </a:prstGeom>
        </p:spPr>
      </p:pic>
      <p:sp>
        <p:nvSpPr>
          <p:cNvPr id="4" name="obj30"/>
          <p:cNvSpPr txBox="1"/>
          <p:nvPr/>
        </p:nvSpPr>
        <p:spPr>
          <a:xfrm>
            <a:off x="548640" y="5349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Narancs: motor és váltó · Türkiz: üzemanyagtank az első ülések alatt</a:t>
            </a:r>
            <a:endParaRPr lang="en-US" sz="1100" dirty="0"/>
          </a:p>
        </p:txBody>
      </p:sp>
      <p:sp>
        <p:nvSpPr>
          <p:cNvPr id="5" name="3D-dot-31"/>
          <p:cNvSpPr/>
          <p:nvPr/>
        </p:nvSpPr>
        <p:spPr>
          <a:xfrm>
            <a:off x="6629400" y="13716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6" name="obj3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595" y="1561795"/>
            <a:ext cx="351130" cy="351130"/>
          </a:xfrm>
          <a:prstGeom prst="rect">
            <a:avLst/>
          </a:prstGeom>
        </p:spPr>
      </p:pic>
      <p:sp>
        <p:nvSpPr>
          <p:cNvPr id="7" name="obj33"/>
          <p:cNvSpPr txBox="1"/>
          <p:nvPr/>
        </p:nvSpPr>
        <p:spPr>
          <a:xfrm>
            <a:off x="758952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Hátsó motor és hajtás</a:t>
            </a:r>
            <a:endParaRPr lang="en-US" sz="1800" dirty="0"/>
          </a:p>
        </p:txBody>
      </p:sp>
      <p:sp>
        <p:nvSpPr>
          <p:cNvPr id="8" name="obj34"/>
          <p:cNvSpPr txBox="1"/>
          <p:nvPr/>
        </p:nvSpPr>
        <p:spPr>
          <a:xfrm>
            <a:off x="7589520" y="1691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3 hengeres motor a csomagtér padlója alatt fekszik, döntve. Elöl nincs motor – ezért fordul ilyen kicsin a kerék.</a:t>
            </a:r>
            <a:endParaRPr lang="en-US" sz="1400" dirty="0"/>
          </a:p>
        </p:txBody>
      </p:sp>
      <p:sp>
        <p:nvSpPr>
          <p:cNvPr id="9" name="3D-dot-35"/>
          <p:cNvSpPr/>
          <p:nvPr/>
        </p:nvSpPr>
        <p:spPr>
          <a:xfrm>
            <a:off x="662940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0" name="obj36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595" y="2750515"/>
            <a:ext cx="351130" cy="351130"/>
          </a:xfrm>
          <a:prstGeom prst="rect">
            <a:avLst/>
          </a:prstGeom>
        </p:spPr>
      </p:pic>
      <p:sp>
        <p:nvSpPr>
          <p:cNvPr id="11" name="obj37"/>
          <p:cNvSpPr txBox="1"/>
          <p:nvPr/>
        </p:nvSpPr>
        <p:spPr>
          <a:xfrm>
            <a:off x="758952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Motorok</a:t>
            </a:r>
            <a:endParaRPr lang="en-US" sz="1800" dirty="0"/>
          </a:p>
        </p:txBody>
      </p:sp>
      <p:sp>
        <p:nvSpPr>
          <p:cNvPr id="12" name="obj38"/>
          <p:cNvSpPr txBox="1"/>
          <p:nvPr/>
        </p:nvSpPr>
        <p:spPr>
          <a:xfrm>
            <a:off x="7589520" y="2880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1.0 SCe 65–75 LE szívó (lánc) · 0.9 TCe 90–95 LE turbó · E-Tech Electric 82 LE, 22 kWh.</a:t>
            </a:r>
            <a:endParaRPr lang="en-US" sz="1400" dirty="0"/>
          </a:p>
        </p:txBody>
      </p:sp>
      <p:sp>
        <p:nvSpPr>
          <p:cNvPr id="13" name="3D-dot-39"/>
          <p:cNvSpPr/>
          <p:nvPr/>
        </p:nvSpPr>
        <p:spPr>
          <a:xfrm>
            <a:off x="6629400" y="37490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4" name="obj40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595" y="3939235"/>
            <a:ext cx="351130" cy="351130"/>
          </a:xfrm>
          <a:prstGeom prst="rect">
            <a:avLst/>
          </a:prstGeom>
        </p:spPr>
      </p:pic>
      <p:sp>
        <p:nvSpPr>
          <p:cNvPr id="15" name="obj41"/>
          <p:cNvSpPr txBox="1"/>
          <p:nvPr/>
        </p:nvSpPr>
        <p:spPr>
          <a:xfrm>
            <a:off x="758952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8,6 m fordulókör</a:t>
            </a:r>
            <a:endParaRPr lang="en-US" sz="1800" dirty="0"/>
          </a:p>
        </p:txBody>
      </p:sp>
      <p:sp>
        <p:nvSpPr>
          <p:cNvPr id="16" name="obj42"/>
          <p:cNvSpPr txBox="1"/>
          <p:nvPr/>
        </p:nvSpPr>
        <p:spPr>
          <a:xfrm>
            <a:off x="7589520" y="4069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Városban verhetetlen: parkolás, U-fordulás, szűk mélygarázs.</a:t>
            </a:r>
            <a:endParaRPr lang="en-US" sz="1400" dirty="0"/>
          </a:p>
        </p:txBody>
      </p:sp>
      <p:sp>
        <p:nvSpPr>
          <p:cNvPr id="17" name="3D-dot-43"/>
          <p:cNvSpPr/>
          <p:nvPr/>
        </p:nvSpPr>
        <p:spPr>
          <a:xfrm>
            <a:off x="6629400" y="49377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8" name="obj44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595" y="5127955"/>
            <a:ext cx="351130" cy="351130"/>
          </a:xfrm>
          <a:prstGeom prst="rect">
            <a:avLst/>
          </a:prstGeom>
        </p:spPr>
      </p:pic>
      <p:sp>
        <p:nvSpPr>
          <p:cNvPr id="19" name="obj45"/>
          <p:cNvSpPr txBox="1"/>
          <p:nvPr/>
        </p:nvSpPr>
        <p:spPr>
          <a:xfrm>
            <a:off x="7589520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smart forfour testvér</a:t>
            </a:r>
            <a:endParaRPr lang="en-US" sz="1800" dirty="0"/>
          </a:p>
        </p:txBody>
      </p:sp>
      <p:sp>
        <p:nvSpPr>
          <p:cNvPr id="20" name="obj46"/>
          <p:cNvSpPr txBox="1"/>
          <p:nvPr/>
        </p:nvSpPr>
        <p:spPr>
          <a:xfrm>
            <a:off x="758952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Renault–Daimler közös fejlesztés, gyártás: Novo Mesto (Szlovénia). Alkatrészek mindkét márkától.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37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74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49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24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799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Megbízhatóság a TÜV szerint</a:t>
            </a:r>
            <a:endParaRPr lang="en-US" sz="3200" dirty="0"/>
          </a:p>
        </p:txBody>
      </p:sp>
      <p:sp>
        <p:nvSpPr>
          <p:cNvPr id="3" name="3D-card-47"/>
          <p:cNvSpPr/>
          <p:nvPr/>
        </p:nvSpPr>
        <p:spPr>
          <a:xfrm>
            <a:off x="548640" y="132588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graphicFrame>
        <p:nvGraphicFramePr>
          <p:cNvPr id="4" name="obj48" descr=""/>
          <p:cNvGraphicFramePr/>
          <p:nvPr/>
        </p:nvGraphicFramePr>
        <p:xfrm>
          <a:off x="731520" y="146304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obj49"/>
          <p:cNvSpPr txBox="1"/>
          <p:nvPr/>
        </p:nvSpPr>
        <p:spPr>
          <a:xfrm>
            <a:off x="772668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Mi bukik el a vizsgán?</a:t>
            </a:r>
            <a:endParaRPr lang="en-US" sz="2000" dirty="0"/>
          </a:p>
        </p:txBody>
      </p:sp>
      <p:sp>
        <p:nvSpPr>
          <p:cNvPr id="6" name="3D-dot-50"/>
          <p:cNvSpPr/>
          <p:nvPr/>
        </p:nvSpPr>
        <p:spPr>
          <a:xfrm>
            <a:off x="7726680" y="1965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7" name="obj5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101" y="2132381"/>
            <a:ext cx="307238" cy="307238"/>
          </a:xfrm>
          <a:prstGeom prst="rect">
            <a:avLst/>
          </a:prstGeom>
        </p:spPr>
      </p:pic>
      <p:sp>
        <p:nvSpPr>
          <p:cNvPr id="8" name="obj52"/>
          <p:cNvSpPr txBox="1"/>
          <p:nvPr/>
        </p:nvSpPr>
        <p:spPr>
          <a:xfrm>
            <a:off x="8549640" y="1920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Olajszivárgás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motor és váltó</a:t>
            </a:r>
            <a:endParaRPr lang="en-US" sz="1400" dirty="0"/>
          </a:p>
        </p:txBody>
      </p:sp>
      <p:sp>
        <p:nvSpPr>
          <p:cNvPr id="9" name="3D-dot-53"/>
          <p:cNvSpPr/>
          <p:nvPr/>
        </p:nvSpPr>
        <p:spPr>
          <a:xfrm>
            <a:off x="7726680" y="30175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0" name="obj54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1" y="3183941"/>
            <a:ext cx="307238" cy="307238"/>
          </a:xfrm>
          <a:prstGeom prst="rect">
            <a:avLst/>
          </a:prstGeom>
        </p:spPr>
      </p:pic>
      <p:sp>
        <p:nvSpPr>
          <p:cNvPr id="11" name="obj55"/>
          <p:cNvSpPr txBox="1"/>
          <p:nvPr/>
        </p:nvSpPr>
        <p:spPr>
          <a:xfrm>
            <a:off x="8549640" y="2971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Futómű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kopott gömbfejek, törött rugók, szivárgó lengéscsillapítók</a:t>
            </a:r>
            <a:endParaRPr lang="en-US" sz="1400" dirty="0"/>
          </a:p>
        </p:txBody>
      </p:sp>
      <p:sp>
        <p:nvSpPr>
          <p:cNvPr id="12" name="3D-dot-56"/>
          <p:cNvSpPr/>
          <p:nvPr/>
        </p:nvSpPr>
        <p:spPr>
          <a:xfrm>
            <a:off x="7726680" y="4069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3" name="obj57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01" y="4235501"/>
            <a:ext cx="307238" cy="307238"/>
          </a:xfrm>
          <a:prstGeom prst="rect">
            <a:avLst/>
          </a:prstGeom>
        </p:spPr>
      </p:pic>
      <p:sp>
        <p:nvSpPr>
          <p:cNvPr id="14" name="obj58"/>
          <p:cNvSpPr txBox="1"/>
          <p:nvPr/>
        </p:nvSpPr>
        <p:spPr>
          <a:xfrm>
            <a:off x="8549640" y="4023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Fékek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korrodált fékcsövek, gyenge fékhatás</a:t>
            </a:r>
            <a:endParaRPr lang="en-US" sz="1400" dirty="0"/>
          </a:p>
        </p:txBody>
      </p:sp>
      <p:sp>
        <p:nvSpPr>
          <p:cNvPr id="15" name="obj59"/>
          <p:cNvSpPr txBox="1"/>
          <p:nvPr/>
        </p:nvSpPr>
        <p:spPr>
          <a:xfrm>
            <a:off x="7726680" y="5166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A jó hír: ezek olcsó kopóalkatrészek, nem motor- vagy váltóhalál. Egy rendben tartott példány gond nélkül átmegy.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37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37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74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49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4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399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hat leggyakoribb hiba</a:t>
            </a:r>
            <a:endParaRPr lang="en-US" sz="3200" dirty="0"/>
          </a:p>
        </p:txBody>
      </p:sp>
      <p:sp>
        <p:nvSpPr>
          <p:cNvPr id="3" name="3D-card-60"/>
          <p:cNvSpPr/>
          <p:nvPr/>
        </p:nvSpPr>
        <p:spPr>
          <a:xfrm>
            <a:off x="54864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4" name="3D-dot-61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5" name="obj62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766621"/>
            <a:ext cx="307238" cy="307238"/>
          </a:xfrm>
          <a:prstGeom prst="rect">
            <a:avLst/>
          </a:prstGeom>
        </p:spPr>
      </p:pic>
      <p:sp>
        <p:nvSpPr>
          <p:cNvPr id="6" name="obj63"/>
          <p:cNvSpPr txBox="1"/>
          <p:nvPr/>
        </p:nvSpPr>
        <p:spPr>
          <a:xfrm>
            <a:off x="160020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Kuplung-főhenger</a:t>
            </a:r>
            <a:endParaRPr lang="en-US" sz="1700" dirty="0"/>
          </a:p>
        </p:txBody>
      </p:sp>
      <p:sp>
        <p:nvSpPr>
          <p:cNvPr id="7" name="obj64"/>
          <p:cNvSpPr txBox="1"/>
          <p:nvPr/>
        </p:nvSpPr>
        <p:spPr>
          <a:xfrm>
            <a:off x="822960" y="2331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Twingo III: melegben, dugóban nehezen megy fokozatba – a hő tönkreteszi a tömítést.</a:t>
            </a:r>
            <a:endParaRPr lang="en-US" sz="1300" dirty="0"/>
          </a:p>
        </p:txBody>
      </p:sp>
      <p:sp>
        <p:nvSpPr>
          <p:cNvPr id="8" name="obj65"/>
          <p:cNvSpPr txBox="1"/>
          <p:nvPr/>
        </p:nvSpPr>
        <p:spPr>
          <a:xfrm>
            <a:off x="82296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kb. 100–240 e Ft</a:t>
            </a:r>
            <a:endParaRPr lang="en-US" sz="1300" dirty="0"/>
          </a:p>
        </p:txBody>
      </p:sp>
      <p:sp>
        <p:nvSpPr>
          <p:cNvPr id="9" name="3D-card-66"/>
          <p:cNvSpPr/>
          <p:nvPr/>
        </p:nvSpPr>
        <p:spPr>
          <a:xfrm>
            <a:off x="429768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0" name="3D-dot-67"/>
          <p:cNvSpPr/>
          <p:nvPr/>
        </p:nvSpPr>
        <p:spPr>
          <a:xfrm>
            <a:off x="4572000" y="16002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1" name="obj68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766621"/>
            <a:ext cx="307238" cy="307238"/>
          </a:xfrm>
          <a:prstGeom prst="rect">
            <a:avLst/>
          </a:prstGeom>
        </p:spPr>
      </p:pic>
      <p:sp>
        <p:nvSpPr>
          <p:cNvPr id="12" name="obj69"/>
          <p:cNvSpPr txBox="1"/>
          <p:nvPr/>
        </p:nvSpPr>
        <p:spPr>
          <a:xfrm>
            <a:off x="534924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EDC automata váltó</a:t>
            </a:r>
            <a:endParaRPr lang="en-US" sz="1700" dirty="0"/>
          </a:p>
        </p:txBody>
      </p:sp>
      <p:sp>
        <p:nvSpPr>
          <p:cNvPr id="13" name="obj70"/>
          <p:cNvSpPr txBox="1"/>
          <p:nvPr/>
        </p:nvSpPr>
        <p:spPr>
          <a:xfrm>
            <a:off x="4572000" y="2331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2014–2015-ös példányok: rángatás, korai kopás akár 80 000 km előtt.</a:t>
            </a:r>
            <a:endParaRPr lang="en-US" sz="1300" dirty="0"/>
          </a:p>
        </p:txBody>
      </p:sp>
      <p:sp>
        <p:nvSpPr>
          <p:cNvPr id="14" name="obj71"/>
          <p:cNvSpPr txBox="1"/>
          <p:nvPr/>
        </p:nvSpPr>
        <p:spPr>
          <a:xfrm>
            <a:off x="457200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kerüld</a:t>
            </a:r>
            <a:endParaRPr lang="en-US" sz="1300" dirty="0"/>
          </a:p>
        </p:txBody>
      </p:sp>
      <p:sp>
        <p:nvSpPr>
          <p:cNvPr id="15" name="3D-card-72"/>
          <p:cNvSpPr/>
          <p:nvPr/>
        </p:nvSpPr>
        <p:spPr>
          <a:xfrm>
            <a:off x="8046720" y="13258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6" name="3D-dot-73"/>
          <p:cNvSpPr/>
          <p:nvPr/>
        </p:nvSpPr>
        <p:spPr>
          <a:xfrm>
            <a:off x="832104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7" name="obj74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1766621"/>
            <a:ext cx="307238" cy="307238"/>
          </a:xfrm>
          <a:prstGeom prst="rect">
            <a:avLst/>
          </a:prstGeom>
        </p:spPr>
      </p:pic>
      <p:sp>
        <p:nvSpPr>
          <p:cNvPr id="18" name="obj75"/>
          <p:cNvSpPr txBox="1"/>
          <p:nvPr/>
        </p:nvSpPr>
        <p:spPr>
          <a:xfrm>
            <a:off x="909828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Vezérlőlánc (1.0 SCe)</a:t>
            </a:r>
            <a:endParaRPr lang="en-US" sz="1700" dirty="0"/>
          </a:p>
        </p:txBody>
      </p:sp>
      <p:sp>
        <p:nvSpPr>
          <p:cNvPr id="19" name="obj76"/>
          <p:cNvSpPr txBox="1"/>
          <p:nvPr/>
        </p:nvSpPr>
        <p:spPr>
          <a:xfrm>
            <a:off x="8321040" y="2331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Hidegindításkor zörgés = megnyúlt lánc. 150 000 km körül esedékes lehet.</a:t>
            </a:r>
            <a:endParaRPr lang="en-US" sz="1300" dirty="0"/>
          </a:p>
        </p:txBody>
      </p:sp>
      <p:sp>
        <p:nvSpPr>
          <p:cNvPr id="20" name="obj77"/>
          <p:cNvSpPr txBox="1"/>
          <p:nvPr/>
        </p:nvSpPr>
        <p:spPr>
          <a:xfrm>
            <a:off x="832104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kb. 150–250 e Ft</a:t>
            </a:r>
            <a:endParaRPr lang="en-US" sz="1300" dirty="0"/>
          </a:p>
        </p:txBody>
      </p:sp>
      <p:sp>
        <p:nvSpPr>
          <p:cNvPr id="21" name="3D-card-78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2" name="3D-dot-79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23" name="obj80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189781"/>
            <a:ext cx="307238" cy="307238"/>
          </a:xfrm>
          <a:prstGeom prst="rect">
            <a:avLst/>
          </a:prstGeom>
        </p:spPr>
      </p:pic>
      <p:sp>
        <p:nvSpPr>
          <p:cNvPr id="24" name="obj81"/>
          <p:cNvSpPr txBox="1"/>
          <p:nvPr/>
        </p:nvSpPr>
        <p:spPr>
          <a:xfrm>
            <a:off x="16002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Futómű és fékek</a:t>
            </a:r>
            <a:endParaRPr lang="en-US" sz="1700" dirty="0"/>
          </a:p>
        </p:txBody>
      </p:sp>
      <p:sp>
        <p:nvSpPr>
          <p:cNvPr id="25" name="obj82"/>
          <p:cNvSpPr txBox="1"/>
          <p:nvPr/>
        </p:nvSpPr>
        <p:spPr>
          <a:xfrm>
            <a:off x="822960" y="4754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Főleg Twingo II: gömbfejek, rugótörés, lengéscsillapító, rozsdás fékcső.</a:t>
            </a:r>
            <a:endParaRPr lang="en-US" sz="1300" dirty="0"/>
          </a:p>
        </p:txBody>
      </p:sp>
      <p:sp>
        <p:nvSpPr>
          <p:cNvPr id="26" name="obj83"/>
          <p:cNvSpPr txBox="1"/>
          <p:nvPr/>
        </p:nvSpPr>
        <p:spPr>
          <a:xfrm>
            <a:off x="822960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kb. 40–150 e Ft</a:t>
            </a:r>
            <a:endParaRPr lang="en-US" sz="1300" dirty="0"/>
          </a:p>
        </p:txBody>
      </p:sp>
      <p:sp>
        <p:nvSpPr>
          <p:cNvPr id="27" name="3D-card-84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8" name="3D-dot-85"/>
          <p:cNvSpPr/>
          <p:nvPr/>
        </p:nvSpPr>
        <p:spPr>
          <a:xfrm>
            <a:off x="4572000" y="4023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29" name="obj86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189781"/>
            <a:ext cx="307238" cy="307238"/>
          </a:xfrm>
          <a:prstGeom prst="rect">
            <a:avLst/>
          </a:prstGeom>
        </p:spPr>
      </p:pic>
      <p:sp>
        <p:nvSpPr>
          <p:cNvPr id="30" name="obj87"/>
          <p:cNvSpPr txBox="1"/>
          <p:nvPr/>
        </p:nvSpPr>
        <p:spPr>
          <a:xfrm>
            <a:off x="53492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Olajszivárgás</a:t>
            </a:r>
            <a:endParaRPr lang="en-US" sz="1700" dirty="0"/>
          </a:p>
        </p:txBody>
      </p:sp>
      <p:sp>
        <p:nvSpPr>
          <p:cNvPr id="31" name="obj88"/>
          <p:cNvSpPr txBox="1"/>
          <p:nvPr/>
        </p:nvSpPr>
        <p:spPr>
          <a:xfrm>
            <a:off x="4572000" y="4754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Idősebb példányoknál motor- és váltótömítés. Nézz alá vásárláskor!</a:t>
            </a:r>
            <a:endParaRPr lang="en-US" sz="1300" dirty="0"/>
          </a:p>
        </p:txBody>
      </p:sp>
      <p:sp>
        <p:nvSpPr>
          <p:cNvPr id="32" name="obj89"/>
          <p:cNvSpPr txBox="1"/>
          <p:nvPr/>
        </p:nvSpPr>
        <p:spPr>
          <a:xfrm>
            <a:off x="4572000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kb. 30–120 e Ft</a:t>
            </a:r>
            <a:endParaRPr lang="en-US" sz="1300" dirty="0"/>
          </a:p>
        </p:txBody>
      </p:sp>
      <p:sp>
        <p:nvSpPr>
          <p:cNvPr id="33" name="3D-card-90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34" name="3D-dot-91"/>
          <p:cNvSpPr/>
          <p:nvPr/>
        </p:nvSpPr>
        <p:spPr>
          <a:xfrm>
            <a:off x="8321040" y="40233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35" name="obj92" descr="ik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189781"/>
            <a:ext cx="307238" cy="307238"/>
          </a:xfrm>
          <a:prstGeom prst="rect">
            <a:avLst/>
          </a:prstGeom>
        </p:spPr>
      </p:pic>
      <p:sp>
        <p:nvSpPr>
          <p:cNvPr id="36" name="obj93"/>
          <p:cNvSpPr txBox="1"/>
          <p:nvPr/>
        </p:nvSpPr>
        <p:spPr>
          <a:xfrm>
            <a:off x="909828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Elektronika</a:t>
            </a:r>
            <a:endParaRPr lang="en-US" sz="1700" dirty="0"/>
          </a:p>
        </p:txBody>
      </p:sp>
      <p:sp>
        <p:nvSpPr>
          <p:cNvPr id="37" name="obj94"/>
          <p:cNvSpPr txBox="1"/>
          <p:nvPr/>
        </p:nvSpPr>
        <p:spPr>
          <a:xfrm>
            <a:off x="8321040" y="4754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Üzemanyagszint-jelző, kilométeróra, fojtószelep-hiba, magas alapjárat.</a:t>
            </a:r>
            <a:endParaRPr lang="en-US" sz="1300" dirty="0"/>
          </a:p>
        </p:txBody>
      </p:sp>
      <p:sp>
        <p:nvSpPr>
          <p:cNvPr id="38" name="obj95"/>
          <p:cNvSpPr txBox="1"/>
          <p:nvPr/>
        </p:nvSpPr>
        <p:spPr>
          <a:xfrm>
            <a:off x="8321040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kb. 20–100 e Ft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37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Melyiket vedd használtan?</a:t>
            </a:r>
            <a:endParaRPr lang="en-US" sz="3200" dirty="0"/>
          </a:p>
        </p:txBody>
      </p:sp>
      <p:graphicFrame>
        <p:nvGraphicFramePr>
          <p:cNvPr id="8" name="obj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2011680"/>
                <a:gridCol w="34134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15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Változat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15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Évjárat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15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Kb. ár (Ft)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15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Ítélet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15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Miért?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Twingo III 1.0 SCe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2016–2024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2,0–4,2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Ajánlott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Egyszerű szívómotor, lánc, kevés elektronika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Twingo E-Tech Electric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2020–2024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3,5–5,5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Ajánlott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Városba ideális, akkugarancia 8 év / 160 000 km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Twingo III 0.9 TCe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2014–2024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2,2–4,0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B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Óvatosan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Fürgébb, de turbó = több hibalehetőség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Twingo II 1.2 16V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2007–2014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0,7–1,8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B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Óvatosan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Olcsó, de rossz TÜV-statisztika: futómű, fék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Twingo I 1.2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1993–2007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0,3–0,8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Csak hobbinak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Strapabíró motor, de 20+ év és rozsda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Twingo III EDC automata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2014–2015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F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Kerüld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Korai váltóhibák, drága javítás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5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42B"/>
                    </a:solidFill>
                  </a:tcPr>
                </a:tc>
              </a:tr>
            </a:tbl>
          </a:graphicData>
        </a:graphic>
      </p:graphicFrame>
      <p:sp>
        <p:nvSpPr>
          <p:cNvPr id="4" name="obj97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Árak: tájékoztató sávok a magyar használtpiacon, 2026 ősz – a futásteljesítmény, állapot és felszereltség erősen befolyásolja.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75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Mennyiért érdemes venni?</a:t>
            </a:r>
            <a:endParaRPr lang="en-US" sz="3200" dirty="0"/>
          </a:p>
        </p:txBody>
      </p:sp>
      <p:sp>
        <p:nvSpPr>
          <p:cNvPr id="3" name="3D-card-98"/>
          <p:cNvSpPr/>
          <p:nvPr/>
        </p:nvSpPr>
        <p:spPr>
          <a:xfrm>
            <a:off x="548640" y="1325880"/>
            <a:ext cx="722376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graphicFrame>
        <p:nvGraphicFramePr>
          <p:cNvPr id="4" name="obj99" descr=""/>
          <p:cNvGraphicFramePr/>
          <p:nvPr/>
        </p:nvGraphicFramePr>
        <p:xfrm>
          <a:off x="731520" y="146304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3D-dot-100"/>
          <p:cNvSpPr/>
          <p:nvPr/>
        </p:nvSpPr>
        <p:spPr>
          <a:xfrm>
            <a:off x="8183880" y="13716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6" name="obj10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88" y="1549908"/>
            <a:ext cx="329184" cy="329184"/>
          </a:xfrm>
          <a:prstGeom prst="rect">
            <a:avLst/>
          </a:prstGeom>
        </p:spPr>
      </p:pic>
      <p:sp>
        <p:nvSpPr>
          <p:cNvPr id="7" name="obj102"/>
          <p:cNvSpPr txBox="1"/>
          <p:nvPr/>
        </p:nvSpPr>
        <p:spPr>
          <a:xfrm>
            <a:off x="9052560" y="1371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Jó vétel</a:t>
            </a:r>
            <a:endParaRPr lang="en-US" sz="1800" dirty="0"/>
          </a:p>
        </p:txBody>
      </p:sp>
      <p:sp>
        <p:nvSpPr>
          <p:cNvPr id="8" name="obj103"/>
          <p:cNvSpPr txBox="1"/>
          <p:nvPr/>
        </p:nvSpPr>
        <p:spPr>
          <a:xfrm>
            <a:off x="9052560" y="175564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120 000 km alatt, vezetett szervizkönyv, 1–2 tulajdonos, friss műszaki.</a:t>
            </a:r>
            <a:endParaRPr lang="en-US" sz="1400" dirty="0"/>
          </a:p>
        </p:txBody>
      </p:sp>
      <p:sp>
        <p:nvSpPr>
          <p:cNvPr id="9" name="3D-dot-104"/>
          <p:cNvSpPr/>
          <p:nvPr/>
        </p:nvSpPr>
        <p:spPr>
          <a:xfrm>
            <a:off x="8183880" y="2971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0" name="obj105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88" y="3150108"/>
            <a:ext cx="329184" cy="329184"/>
          </a:xfrm>
          <a:prstGeom prst="rect">
            <a:avLst/>
          </a:prstGeom>
        </p:spPr>
      </p:pic>
      <p:sp>
        <p:nvSpPr>
          <p:cNvPr id="11" name="obj106"/>
          <p:cNvSpPr txBox="1"/>
          <p:nvPr/>
        </p:nvSpPr>
        <p:spPr>
          <a:xfrm>
            <a:off x="905256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Alkuérv</a:t>
            </a:r>
            <a:endParaRPr lang="en-US" sz="1800" dirty="0"/>
          </a:p>
        </p:txBody>
      </p:sp>
      <p:sp>
        <p:nvSpPr>
          <p:cNvPr id="12" name="obj107"/>
          <p:cNvSpPr txBox="1"/>
          <p:nvPr/>
        </p:nvSpPr>
        <p:spPr>
          <a:xfrm>
            <a:off x="9052560" y="335584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Zörgő lánc, nehezen kapcsoló váltó, kopott futómű: ezek árát vond le.</a:t>
            </a:r>
            <a:endParaRPr lang="en-US" sz="1400" dirty="0"/>
          </a:p>
        </p:txBody>
      </p:sp>
      <p:sp>
        <p:nvSpPr>
          <p:cNvPr id="13" name="3D-dot-108"/>
          <p:cNvSpPr/>
          <p:nvPr/>
        </p:nvSpPr>
        <p:spPr>
          <a:xfrm>
            <a:off x="8183880" y="45720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4" name="obj109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4750308"/>
            <a:ext cx="329184" cy="329184"/>
          </a:xfrm>
          <a:prstGeom prst="rect">
            <a:avLst/>
          </a:prstGeom>
        </p:spPr>
      </p:pic>
      <p:sp>
        <p:nvSpPr>
          <p:cNvPr id="15" name="obj110"/>
          <p:cNvSpPr txBox="1"/>
          <p:nvPr/>
        </p:nvSpPr>
        <p:spPr>
          <a:xfrm>
            <a:off x="9052560" y="4572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 vedd meg</a:t>
            </a:r>
            <a:endParaRPr lang="en-US" sz="1800" dirty="0"/>
          </a:p>
        </p:txBody>
      </p:sp>
      <p:sp>
        <p:nvSpPr>
          <p:cNvPr id="16" name="obj111"/>
          <p:cNvSpPr txBox="1"/>
          <p:nvPr/>
        </p:nvSpPr>
        <p:spPr>
          <a:xfrm>
            <a:off x="9052560" y="495604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 rozsdás a fékcső/küszöb, vagy az EDC rángat.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37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37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12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87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Mennyibe kerül fenntartani?</a:t>
            </a:r>
            <a:endParaRPr lang="en-US" sz="3200" dirty="0"/>
          </a:p>
        </p:txBody>
      </p:sp>
      <p:sp>
        <p:nvSpPr>
          <p:cNvPr id="3" name="3D-card-112"/>
          <p:cNvSpPr/>
          <p:nvPr/>
        </p:nvSpPr>
        <p:spPr>
          <a:xfrm>
            <a:off x="548640" y="1325880"/>
            <a:ext cx="749808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graphicFrame>
        <p:nvGraphicFramePr>
          <p:cNvPr id="4" name="obj113" descr=""/>
          <p:cNvGraphicFramePr/>
          <p:nvPr/>
        </p:nvGraphicFramePr>
        <p:xfrm>
          <a:off x="731520" y="146304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3D-card-114"/>
          <p:cNvSpPr/>
          <p:nvPr/>
        </p:nvSpPr>
        <p:spPr>
          <a:xfrm>
            <a:off x="8321040" y="1325880"/>
            <a:ext cx="331927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6" name="3DT-cost0"/>
          <p:cNvSpPr txBox="1"/>
          <p:nvPr/>
        </p:nvSpPr>
        <p:spPr>
          <a:xfrm>
            <a:off x="854964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e Ft</a:t>
            </a:r>
            <a:endParaRPr lang="en-US" sz="3600" dirty="0"/>
          </a:p>
        </p:txBody>
      </p:sp>
      <p:sp>
        <p:nvSpPr>
          <p:cNvPr id="7" name="obj115"/>
          <p:cNvSpPr txBox="1"/>
          <p:nvPr/>
        </p:nvSpPr>
        <p:spPr>
          <a:xfrm>
            <a:off x="85496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havonta – 1.0 SCe benzines</a:t>
            </a:r>
            <a:endParaRPr lang="en-US" sz="1300" dirty="0"/>
          </a:p>
        </p:txBody>
      </p:sp>
      <p:sp>
        <p:nvSpPr>
          <p:cNvPr id="8" name="3D-card-116"/>
          <p:cNvSpPr/>
          <p:nvPr/>
        </p:nvSpPr>
        <p:spPr>
          <a:xfrm>
            <a:off x="8321040" y="3017520"/>
            <a:ext cx="331927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9" name="3DT-cost1"/>
          <p:cNvSpPr txBox="1"/>
          <p:nvPr/>
        </p:nvSpPr>
        <p:spPr>
          <a:xfrm>
            <a:off x="854964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 e Ft</a:t>
            </a:r>
            <a:endParaRPr lang="en-US" sz="3600" dirty="0"/>
          </a:p>
        </p:txBody>
      </p:sp>
      <p:sp>
        <p:nvSpPr>
          <p:cNvPr id="10" name="obj117"/>
          <p:cNvSpPr txBox="1"/>
          <p:nvPr/>
        </p:nvSpPr>
        <p:spPr>
          <a:xfrm>
            <a:off x="85496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havonta – E-Tech Electric, otthoni töltéssel</a:t>
            </a:r>
            <a:endParaRPr lang="en-US" sz="1300" dirty="0"/>
          </a:p>
        </p:txBody>
      </p:sp>
      <p:sp>
        <p:nvSpPr>
          <p:cNvPr id="11" name="obj118"/>
          <p:cNvSpPr txBox="1"/>
          <p:nvPr/>
        </p:nvSpPr>
        <p:spPr>
          <a:xfrm>
            <a:off x="8321040" y="4800600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Feltételezés: 5,8 l/100 km, 600 Ft/l benzin; 14 kWh/100 km, 70 Ft/kWh áram. Biztosítás életkortól és lakóhelytől függően jóval eltérhet; értékvesztés nincs benne.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37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2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49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86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Meddig bírja? Kilométerről kilométerre</a:t>
            </a:r>
            <a:endParaRPr lang="en-US" sz="3200" dirty="0"/>
          </a:p>
        </p:txBody>
      </p:sp>
      <p:sp>
        <p:nvSpPr>
          <p:cNvPr id="3" name="obj119"/>
          <p:cNvSpPr/>
          <p:nvPr/>
        </p:nvSpPr>
        <p:spPr>
          <a:xfrm>
            <a:off x="1600200" y="2331720"/>
            <a:ext cx="8991295" cy="0"/>
          </a:xfrm>
          <a:prstGeom prst="line">
            <a:avLst/>
          </a:prstGeom>
          <a:noFill/>
          <a:ln w="50800">
            <a:solidFill>
              <a:srgbClr val="2C2F37"/>
            </a:solidFill>
            <a:prstDash val="solid"/>
          </a:ln>
        </p:spPr>
      </p:sp>
      <p:sp>
        <p:nvSpPr>
          <p:cNvPr id="4" name="3D-step0"/>
          <p:cNvSpPr/>
          <p:nvPr/>
        </p:nvSpPr>
        <p:spPr>
          <a:xfrm>
            <a:off x="1188720" y="1920240"/>
            <a:ext cx="822960" cy="8229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141519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5" name="obj120"/>
          <p:cNvSpPr txBox="1"/>
          <p:nvPr/>
        </p:nvSpPr>
        <p:spPr>
          <a:xfrm>
            <a:off x="1188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obj121"/>
          <p:cNvSpPr txBox="1"/>
          <p:nvPr/>
        </p:nvSpPr>
        <p:spPr>
          <a:xfrm>
            <a:off x="5029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15–30e km</a:t>
            </a:r>
            <a:endParaRPr lang="en-US" sz="1800" dirty="0"/>
          </a:p>
        </p:txBody>
      </p:sp>
      <p:sp>
        <p:nvSpPr>
          <p:cNvPr id="7" name="3D-card-122"/>
          <p:cNvSpPr/>
          <p:nvPr/>
        </p:nvSpPr>
        <p:spPr>
          <a:xfrm>
            <a:off x="548640" y="3063240"/>
            <a:ext cx="21031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8" name="obj123"/>
          <p:cNvSpPr txBox="1"/>
          <p:nvPr/>
        </p:nvSpPr>
        <p:spPr>
          <a:xfrm>
            <a:off x="685800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Olajcsere és szűrők évente</a:t>
            </a:r>
            <a:endParaRPr lang="en-US" sz="1400" dirty="0"/>
          </a:p>
        </p:txBody>
      </p:sp>
      <p:sp>
        <p:nvSpPr>
          <p:cNvPr id="9" name="obj124"/>
          <p:cNvSpPr txBox="1"/>
          <p:nvPr/>
        </p:nvSpPr>
        <p:spPr>
          <a:xfrm>
            <a:off x="6858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35–50 e Ft</a:t>
            </a:r>
            <a:endParaRPr lang="en-US" sz="1300" dirty="0"/>
          </a:p>
        </p:txBody>
      </p:sp>
      <p:sp>
        <p:nvSpPr>
          <p:cNvPr id="10" name="3D-step1"/>
          <p:cNvSpPr/>
          <p:nvPr/>
        </p:nvSpPr>
        <p:spPr>
          <a:xfrm>
            <a:off x="3436544" y="1920240"/>
            <a:ext cx="822960" cy="8229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141519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11" name="obj125"/>
          <p:cNvSpPr txBox="1"/>
          <p:nvPr/>
        </p:nvSpPr>
        <p:spPr>
          <a:xfrm>
            <a:off x="3436544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obj126"/>
          <p:cNvSpPr txBox="1"/>
          <p:nvPr/>
        </p:nvSpPr>
        <p:spPr>
          <a:xfrm>
            <a:off x="2750744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60e km</a:t>
            </a:r>
            <a:endParaRPr lang="en-US" sz="1800" dirty="0"/>
          </a:p>
        </p:txBody>
      </p:sp>
      <p:sp>
        <p:nvSpPr>
          <p:cNvPr id="13" name="3D-card-127"/>
          <p:cNvSpPr/>
          <p:nvPr/>
        </p:nvSpPr>
        <p:spPr>
          <a:xfrm>
            <a:off x="2796464" y="3063240"/>
            <a:ext cx="21031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4" name="obj128"/>
          <p:cNvSpPr txBox="1"/>
          <p:nvPr/>
        </p:nvSpPr>
        <p:spPr>
          <a:xfrm>
            <a:off x="2933624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Gyújtógyertyák, első fékbetétek</a:t>
            </a:r>
            <a:endParaRPr lang="en-US" sz="1400" dirty="0"/>
          </a:p>
        </p:txBody>
      </p:sp>
      <p:sp>
        <p:nvSpPr>
          <p:cNvPr id="15" name="obj129"/>
          <p:cNvSpPr txBox="1"/>
          <p:nvPr/>
        </p:nvSpPr>
        <p:spPr>
          <a:xfrm>
            <a:off x="2933624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30–60 e Ft</a:t>
            </a:r>
            <a:endParaRPr lang="en-US" sz="1300" dirty="0"/>
          </a:p>
        </p:txBody>
      </p:sp>
      <p:sp>
        <p:nvSpPr>
          <p:cNvPr id="16" name="3D-step2"/>
          <p:cNvSpPr/>
          <p:nvPr/>
        </p:nvSpPr>
        <p:spPr>
          <a:xfrm>
            <a:off x="5684368" y="192024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141519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17" name="obj130"/>
          <p:cNvSpPr txBox="1"/>
          <p:nvPr/>
        </p:nvSpPr>
        <p:spPr>
          <a:xfrm>
            <a:off x="568436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obj131"/>
          <p:cNvSpPr txBox="1"/>
          <p:nvPr/>
        </p:nvSpPr>
        <p:spPr>
          <a:xfrm>
            <a:off x="4998568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100e km</a:t>
            </a:r>
            <a:endParaRPr lang="en-US" sz="1800" dirty="0"/>
          </a:p>
        </p:txBody>
      </p:sp>
      <p:sp>
        <p:nvSpPr>
          <p:cNvPr id="19" name="3D-card-132"/>
          <p:cNvSpPr/>
          <p:nvPr/>
        </p:nvSpPr>
        <p:spPr>
          <a:xfrm>
            <a:off x="5044288" y="3063240"/>
            <a:ext cx="21031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0" name="obj133"/>
          <p:cNvSpPr txBox="1"/>
          <p:nvPr/>
        </p:nvSpPr>
        <p:spPr>
          <a:xfrm>
            <a:off x="5181448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Lengéscsillapítók, 12 V akku, kuplung-hidraulika</a:t>
            </a:r>
            <a:endParaRPr lang="en-US" sz="1400" dirty="0"/>
          </a:p>
        </p:txBody>
      </p:sp>
      <p:sp>
        <p:nvSpPr>
          <p:cNvPr id="21" name="obj134"/>
          <p:cNvSpPr txBox="1"/>
          <p:nvPr/>
        </p:nvSpPr>
        <p:spPr>
          <a:xfrm>
            <a:off x="5181448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60–200 e Ft</a:t>
            </a:r>
            <a:endParaRPr lang="en-US" sz="1300" dirty="0"/>
          </a:p>
        </p:txBody>
      </p:sp>
      <p:sp>
        <p:nvSpPr>
          <p:cNvPr id="22" name="3D-step3"/>
          <p:cNvSpPr/>
          <p:nvPr/>
        </p:nvSpPr>
        <p:spPr>
          <a:xfrm>
            <a:off x="7932191" y="1920240"/>
            <a:ext cx="822960" cy="8229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141519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23" name="obj135"/>
          <p:cNvSpPr txBox="1"/>
          <p:nvPr/>
        </p:nvSpPr>
        <p:spPr>
          <a:xfrm>
            <a:off x="7932191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obj136"/>
          <p:cNvSpPr txBox="1"/>
          <p:nvPr/>
        </p:nvSpPr>
        <p:spPr>
          <a:xfrm>
            <a:off x="7246391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150e km</a:t>
            </a:r>
            <a:endParaRPr lang="en-US" sz="1800" dirty="0"/>
          </a:p>
        </p:txBody>
      </p:sp>
      <p:sp>
        <p:nvSpPr>
          <p:cNvPr id="25" name="3D-card-137"/>
          <p:cNvSpPr/>
          <p:nvPr/>
        </p:nvSpPr>
        <p:spPr>
          <a:xfrm>
            <a:off x="7292111" y="3063240"/>
            <a:ext cx="21031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6" name="obj138"/>
          <p:cNvSpPr txBox="1"/>
          <p:nvPr/>
        </p:nvSpPr>
        <p:spPr>
          <a:xfrm>
            <a:off x="7429271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Vezérlőlánc ellenőrzés/csere, futómű-felújítás</a:t>
            </a:r>
            <a:endParaRPr lang="en-US" sz="1400" dirty="0"/>
          </a:p>
        </p:txBody>
      </p:sp>
      <p:sp>
        <p:nvSpPr>
          <p:cNvPr id="27" name="obj139"/>
          <p:cNvSpPr txBox="1"/>
          <p:nvPr/>
        </p:nvSpPr>
        <p:spPr>
          <a:xfrm>
            <a:off x="7429271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150–300 e Ft</a:t>
            </a:r>
            <a:endParaRPr lang="en-US" sz="1300" dirty="0"/>
          </a:p>
        </p:txBody>
      </p:sp>
      <p:sp>
        <p:nvSpPr>
          <p:cNvPr id="28" name="3D-step4"/>
          <p:cNvSpPr/>
          <p:nvPr/>
        </p:nvSpPr>
        <p:spPr>
          <a:xfrm>
            <a:off x="10180015" y="1920240"/>
            <a:ext cx="822960" cy="82296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141519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29" name="obj140"/>
          <p:cNvSpPr txBox="1"/>
          <p:nvPr/>
        </p:nvSpPr>
        <p:spPr>
          <a:xfrm>
            <a:off x="10180015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obj141"/>
          <p:cNvSpPr txBox="1"/>
          <p:nvPr/>
        </p:nvSpPr>
        <p:spPr>
          <a:xfrm>
            <a:off x="9494215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250e+ km</a:t>
            </a:r>
            <a:endParaRPr lang="en-US" sz="1800" dirty="0"/>
          </a:p>
        </p:txBody>
      </p:sp>
      <p:sp>
        <p:nvSpPr>
          <p:cNvPr id="31" name="3D-card-142"/>
          <p:cNvSpPr/>
          <p:nvPr/>
        </p:nvSpPr>
        <p:spPr>
          <a:xfrm>
            <a:off x="9539935" y="3063240"/>
            <a:ext cx="21031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32" name="obj143"/>
          <p:cNvSpPr txBox="1"/>
          <p:nvPr/>
        </p:nvSpPr>
        <p:spPr>
          <a:xfrm>
            <a:off x="9677095" y="3200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Reális végállomás: a rozsda és a karosszéria dönt</a:t>
            </a:r>
            <a:endParaRPr lang="en-US" sz="1400" dirty="0"/>
          </a:p>
        </p:txBody>
      </p:sp>
      <p:sp>
        <p:nvSpPr>
          <p:cNvPr id="33" name="obj144"/>
          <p:cNvSpPr txBox="1"/>
          <p:nvPr/>
        </p:nvSpPr>
        <p:spPr>
          <a:xfrm>
            <a:off x="9677095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—</a:t>
            </a:r>
            <a:endParaRPr lang="en-US" sz="1300" dirty="0"/>
          </a:p>
        </p:txBody>
      </p:sp>
      <p:sp>
        <p:nvSpPr>
          <p:cNvPr id="34" name="3D-card-145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35" name="obj146"/>
          <p:cNvSpPr txBox="1"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motor ritkán hal meg előbb, mint a többi. Twingo I/II-nél a rozsda és a futómű, a III-nál a kuplung-hidraulika és az elektronika dönti el, mikor nem éri meg tovább javítani.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75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5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725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100"/>
                            </p:stCondLst>
                            <p:childTnLst>
                              <p:par>
                                <p:cTn id="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75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várj tőle – és mit ne?</a:t>
            </a:r>
            <a:endParaRPr lang="en-US" sz="3200" dirty="0"/>
          </a:p>
        </p:txBody>
      </p:sp>
      <p:pic>
        <p:nvPicPr>
          <p:cNvPr id="3" name="!!car" descr="Renault Twingo 3D illusztráci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3337560"/>
            <a:ext cx="3154680" cy="2424185"/>
          </a:xfrm>
          <a:prstGeom prst="rect">
            <a:avLst/>
          </a:prstGeom>
        </p:spPr>
      </p:pic>
      <p:sp>
        <p:nvSpPr>
          <p:cNvPr id="4" name="obj147"/>
          <p:cNvSpPr txBox="1"/>
          <p:nvPr/>
        </p:nvSpPr>
        <p:spPr>
          <a:xfrm>
            <a:off x="54864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Amit kapsz</a:t>
            </a:r>
            <a:endParaRPr lang="en-US" sz="2200" dirty="0"/>
          </a:p>
        </p:txBody>
      </p:sp>
      <p:sp>
        <p:nvSpPr>
          <p:cNvPr id="5" name="3D-dot-148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6" name="obj149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096719"/>
            <a:ext cx="241402" cy="241402"/>
          </a:xfrm>
          <a:prstGeom prst="rect">
            <a:avLst/>
          </a:prstGeom>
        </p:spPr>
      </p:pic>
      <p:sp>
        <p:nvSpPr>
          <p:cNvPr id="7" name="obj150"/>
          <p:cNvSpPr txBox="1"/>
          <p:nvPr/>
        </p:nvSpPr>
        <p:spPr>
          <a:xfrm>
            <a:off x="1234440" y="1920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8,6 m fordulókör, bárhol leparkolsz</a:t>
            </a:r>
            <a:endParaRPr lang="en-US" sz="1500" dirty="0"/>
          </a:p>
        </p:txBody>
      </p:sp>
      <p:sp>
        <p:nvSpPr>
          <p:cNvPr id="8" name="3D-dot-151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9" name="obj15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901391"/>
            <a:ext cx="241402" cy="241402"/>
          </a:xfrm>
          <a:prstGeom prst="rect">
            <a:avLst/>
          </a:prstGeom>
        </p:spPr>
      </p:pic>
      <p:sp>
        <p:nvSpPr>
          <p:cNvPr id="10" name="obj153"/>
          <p:cNvSpPr txBox="1"/>
          <p:nvPr/>
        </p:nvSpPr>
        <p:spPr>
          <a:xfrm>
            <a:off x="1234440" y="27249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Városban 5,5–6,5 l/100 km (SCe)</a:t>
            </a:r>
            <a:endParaRPr lang="en-US" sz="1500" dirty="0"/>
          </a:p>
        </p:txBody>
      </p:sp>
      <p:sp>
        <p:nvSpPr>
          <p:cNvPr id="11" name="3D-dot-154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2" name="obj155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3706063"/>
            <a:ext cx="241402" cy="241402"/>
          </a:xfrm>
          <a:prstGeom prst="rect">
            <a:avLst/>
          </a:prstGeom>
        </p:spPr>
      </p:pic>
      <p:sp>
        <p:nvSpPr>
          <p:cNvPr id="13" name="obj156"/>
          <p:cNvSpPr txBox="1"/>
          <p:nvPr/>
        </p:nvSpPr>
        <p:spPr>
          <a:xfrm>
            <a:off x="1234440" y="352958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Olcsó alkatrészek, egyszerű szívómotor</a:t>
            </a:r>
            <a:endParaRPr lang="en-US" sz="1500" dirty="0"/>
          </a:p>
        </p:txBody>
      </p:sp>
      <p:sp>
        <p:nvSpPr>
          <p:cNvPr id="14" name="3D-dot-157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5" name="obj158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510735"/>
            <a:ext cx="241402" cy="241402"/>
          </a:xfrm>
          <a:prstGeom prst="rect">
            <a:avLst/>
          </a:prstGeom>
        </p:spPr>
      </p:pic>
      <p:sp>
        <p:nvSpPr>
          <p:cNvPr id="16" name="obj159"/>
          <p:cNvSpPr txBox="1"/>
          <p:nvPr/>
        </p:nvSpPr>
        <p:spPr>
          <a:xfrm>
            <a:off x="1234440" y="43342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Vidám, karakteres dizájn, sok szín</a:t>
            </a:r>
            <a:endParaRPr lang="en-US" sz="1500" dirty="0"/>
          </a:p>
        </p:txBody>
      </p:sp>
      <p:sp>
        <p:nvSpPr>
          <p:cNvPr id="17" name="3D-dot-160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8" name="obj161" descr="ik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5315407"/>
            <a:ext cx="241402" cy="241402"/>
          </a:xfrm>
          <a:prstGeom prst="rect">
            <a:avLst/>
          </a:prstGeom>
        </p:spPr>
      </p:pic>
      <p:sp>
        <p:nvSpPr>
          <p:cNvPr id="19" name="obj162"/>
          <p:cNvSpPr txBox="1"/>
          <p:nvPr/>
        </p:nvSpPr>
        <p:spPr>
          <a:xfrm>
            <a:off x="123444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Négy ajtó (III), meglepően tágas elöl</a:t>
            </a:r>
            <a:endParaRPr lang="en-US" sz="1500" dirty="0"/>
          </a:p>
        </p:txBody>
      </p:sp>
      <p:sp>
        <p:nvSpPr>
          <p:cNvPr id="20" name="obj163"/>
          <p:cNvSpPr txBox="1"/>
          <p:nvPr/>
        </p:nvSpPr>
        <p:spPr>
          <a:xfrm>
            <a:off x="786384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Amit nem</a:t>
            </a:r>
            <a:endParaRPr lang="en-US" sz="2200" dirty="0"/>
          </a:p>
        </p:txBody>
      </p:sp>
      <p:sp>
        <p:nvSpPr>
          <p:cNvPr id="21" name="3D-dot-164"/>
          <p:cNvSpPr/>
          <p:nvPr/>
        </p:nvSpPr>
        <p:spPr>
          <a:xfrm>
            <a:off x="7863840" y="19659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22" name="obj165" descr="ik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4599" y="2096719"/>
            <a:ext cx="241402" cy="241402"/>
          </a:xfrm>
          <a:prstGeom prst="rect">
            <a:avLst/>
          </a:prstGeom>
        </p:spPr>
      </p:pic>
      <p:sp>
        <p:nvSpPr>
          <p:cNvPr id="23" name="obj166"/>
          <p:cNvSpPr txBox="1"/>
          <p:nvPr/>
        </p:nvSpPr>
        <p:spPr>
          <a:xfrm>
            <a:off x="8549640" y="1920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Autópályán zajos, oldalszélre érzékeny</a:t>
            </a:r>
            <a:endParaRPr lang="en-US" sz="1500" dirty="0"/>
          </a:p>
        </p:txBody>
      </p:sp>
      <p:sp>
        <p:nvSpPr>
          <p:cNvPr id="24" name="3D-dot-167"/>
          <p:cNvSpPr/>
          <p:nvPr/>
        </p:nvSpPr>
        <p:spPr>
          <a:xfrm>
            <a:off x="7863840" y="277063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25" name="obj168" descr="ik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4599" y="2901391"/>
            <a:ext cx="241402" cy="241402"/>
          </a:xfrm>
          <a:prstGeom prst="rect">
            <a:avLst/>
          </a:prstGeom>
        </p:spPr>
      </p:pic>
      <p:sp>
        <p:nvSpPr>
          <p:cNvPr id="26" name="obj169"/>
          <p:cNvSpPr txBox="1"/>
          <p:nvPr/>
        </p:nvSpPr>
        <p:spPr>
          <a:xfrm>
            <a:off x="8549640" y="27249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Gyenge: 0–100 km/h kb. 15 mp (SCe)</a:t>
            </a:r>
            <a:endParaRPr lang="en-US" sz="1500" dirty="0"/>
          </a:p>
        </p:txBody>
      </p:sp>
      <p:sp>
        <p:nvSpPr>
          <p:cNvPr id="27" name="3D-dot-170"/>
          <p:cNvSpPr/>
          <p:nvPr/>
        </p:nvSpPr>
        <p:spPr>
          <a:xfrm>
            <a:off x="7863840" y="3575304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28" name="obj171" descr="ik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4599" y="3706063"/>
            <a:ext cx="241402" cy="241402"/>
          </a:xfrm>
          <a:prstGeom prst="rect">
            <a:avLst/>
          </a:prstGeom>
        </p:spPr>
      </p:pic>
      <p:sp>
        <p:nvSpPr>
          <p:cNvPr id="29" name="obj172"/>
          <p:cNvSpPr txBox="1"/>
          <p:nvPr/>
        </p:nvSpPr>
        <p:spPr>
          <a:xfrm>
            <a:off x="8549640" y="352958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Kicsi csomagtartó, csak 4 ülés</a:t>
            </a:r>
            <a:endParaRPr lang="en-US" sz="1500" dirty="0"/>
          </a:p>
        </p:txBody>
      </p:sp>
      <p:sp>
        <p:nvSpPr>
          <p:cNvPr id="30" name="3D-dot-173"/>
          <p:cNvSpPr/>
          <p:nvPr/>
        </p:nvSpPr>
        <p:spPr>
          <a:xfrm>
            <a:off x="7863840" y="4379976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31" name="obj174" descr="ik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4599" y="4510735"/>
            <a:ext cx="241402" cy="241402"/>
          </a:xfrm>
          <a:prstGeom prst="rect">
            <a:avLst/>
          </a:prstGeom>
        </p:spPr>
      </p:pic>
      <p:sp>
        <p:nvSpPr>
          <p:cNvPr id="32" name="obj175"/>
          <p:cNvSpPr txBox="1"/>
          <p:nvPr/>
        </p:nvSpPr>
        <p:spPr>
          <a:xfrm>
            <a:off x="8549640" y="43342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Hátsó motor: drágább munkadíj</a:t>
            </a:r>
            <a:endParaRPr lang="en-US" sz="1500" dirty="0"/>
          </a:p>
        </p:txBody>
      </p:sp>
      <p:sp>
        <p:nvSpPr>
          <p:cNvPr id="33" name="3D-dot-176"/>
          <p:cNvSpPr/>
          <p:nvPr/>
        </p:nvSpPr>
        <p:spPr>
          <a:xfrm>
            <a:off x="7863840" y="518464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34" name="obj177" descr="ik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4599" y="5315407"/>
            <a:ext cx="241402" cy="241402"/>
          </a:xfrm>
          <a:prstGeom prst="rect">
            <a:avLst/>
          </a:prstGeom>
        </p:spPr>
      </p:pic>
      <p:sp>
        <p:nvSpPr>
          <p:cNvPr id="35" name="obj178"/>
          <p:cNvSpPr txBox="1"/>
          <p:nvPr/>
        </p:nvSpPr>
        <p:spPr>
          <a:xfrm>
            <a:off x="854964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Twingo II: gyenge futómű és fékek</a:t>
            </a:r>
            <a:endParaRPr lang="en-US" sz="1500" dirty="0"/>
          </a:p>
        </p:txBody>
      </p:sp>
      <p:sp>
        <p:nvSpPr>
          <p:cNvPr id="36" name="3DT-motto"/>
          <p:cNvSpPr txBox="1"/>
          <p:nvPr/>
        </p:nvSpPr>
        <p:spPr>
          <a:xfrm>
            <a:off x="4434840" y="146304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Városi autó, nem túraautó.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37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74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49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424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99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74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49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886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261"/>
                            </p:stCondLst>
                            <p:childTnLst>
                              <p:par>
                                <p:cTn id="10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636"/>
                            </p:stCondLst>
                            <p:childTnLst>
                              <p:par>
                                <p:cTn id="1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11"/>
                            </p:stCondLst>
                            <p:childTnLst>
                              <p:par>
                                <p:cTn id="1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386"/>
                            </p:stCondLst>
                            <p:childTnLst>
                              <p:par>
                                <p:cTn id="1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761"/>
                            </p:stCondLst>
                            <p:childTnLst>
                              <p:par>
                                <p:cTn id="1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45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Vásárlási ellenőrzőlista</a:t>
            </a:r>
            <a:endParaRPr lang="en-US" sz="3200" dirty="0"/>
          </a:p>
        </p:txBody>
      </p:sp>
      <p:sp>
        <p:nvSpPr>
          <p:cNvPr id="3" name="3D-card-179"/>
          <p:cNvSpPr/>
          <p:nvPr/>
        </p:nvSpPr>
        <p:spPr>
          <a:xfrm>
            <a:off x="54864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4" name="3D-num0"/>
          <p:cNvSpPr/>
          <p:nvPr/>
        </p:nvSpPr>
        <p:spPr>
          <a:xfrm>
            <a:off x="77724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5" name="obj180"/>
          <p:cNvSpPr txBox="1"/>
          <p:nvPr/>
        </p:nvSpPr>
        <p:spPr>
          <a:xfrm>
            <a:off x="7772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obj181"/>
          <p:cNvSpPr txBox="1"/>
          <p:nvPr/>
        </p:nvSpPr>
        <p:spPr>
          <a:xfrm>
            <a:off x="1645920" y="14173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Szervizkönyv és számlák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Évenkénti olajcsere? A lánc- és kuplungjavítás számlája aranyat ér.</a:t>
            </a:r>
            <a:endParaRPr lang="en-US" sz="1400" dirty="0"/>
          </a:p>
        </p:txBody>
      </p:sp>
      <p:sp>
        <p:nvSpPr>
          <p:cNvPr id="7" name="3D-card-182"/>
          <p:cNvSpPr/>
          <p:nvPr/>
        </p:nvSpPr>
        <p:spPr>
          <a:xfrm>
            <a:off x="548640" y="2542032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8" name="3D-num1"/>
          <p:cNvSpPr/>
          <p:nvPr/>
        </p:nvSpPr>
        <p:spPr>
          <a:xfrm>
            <a:off x="777240" y="272491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9" name="obj183"/>
          <p:cNvSpPr txBox="1"/>
          <p:nvPr/>
        </p:nvSpPr>
        <p:spPr>
          <a:xfrm>
            <a:off x="77724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obj184"/>
          <p:cNvSpPr txBox="1"/>
          <p:nvPr/>
        </p:nvSpPr>
        <p:spPr>
          <a:xfrm>
            <a:off x="1645920" y="2633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Hidegindítás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Zörgés az első másodpercekben = nyúlt vezérlőlánc (SCe).</a:t>
            </a:r>
            <a:endParaRPr lang="en-US" sz="1400" dirty="0"/>
          </a:p>
        </p:txBody>
      </p:sp>
      <p:sp>
        <p:nvSpPr>
          <p:cNvPr id="11" name="3D-card-185"/>
          <p:cNvSpPr/>
          <p:nvPr/>
        </p:nvSpPr>
        <p:spPr>
          <a:xfrm>
            <a:off x="548640" y="3758184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2" name="3D-num2"/>
          <p:cNvSpPr/>
          <p:nvPr/>
        </p:nvSpPr>
        <p:spPr>
          <a:xfrm>
            <a:off x="777240" y="394106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13" name="obj186"/>
          <p:cNvSpPr txBox="1"/>
          <p:nvPr/>
        </p:nvSpPr>
        <p:spPr>
          <a:xfrm>
            <a:off x="77724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obj187"/>
          <p:cNvSpPr txBox="1"/>
          <p:nvPr/>
        </p:nvSpPr>
        <p:spPr>
          <a:xfrm>
            <a:off x="1645920" y="384962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Kuplung melegen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 perc városi út után is könnyen megy fokozatba?</a:t>
            </a:r>
            <a:endParaRPr lang="en-US" sz="1400" dirty="0"/>
          </a:p>
        </p:txBody>
      </p:sp>
      <p:sp>
        <p:nvSpPr>
          <p:cNvPr id="15" name="3D-card-188"/>
          <p:cNvSpPr/>
          <p:nvPr/>
        </p:nvSpPr>
        <p:spPr>
          <a:xfrm>
            <a:off x="548640" y="4974336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16" name="3D-num3"/>
          <p:cNvSpPr/>
          <p:nvPr/>
        </p:nvSpPr>
        <p:spPr>
          <a:xfrm>
            <a:off x="777240" y="51572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17" name="obj189"/>
          <p:cNvSpPr txBox="1"/>
          <p:nvPr/>
        </p:nvSpPr>
        <p:spPr>
          <a:xfrm>
            <a:off x="77724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obj190"/>
          <p:cNvSpPr txBox="1"/>
          <p:nvPr/>
        </p:nvSpPr>
        <p:spPr>
          <a:xfrm>
            <a:off x="1645920" y="50657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EDC automata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Rángat elinduláskor? 2014–2015-ösnél inkább hagyd ott.</a:t>
            </a:r>
            <a:endParaRPr lang="en-US" sz="1400" dirty="0"/>
          </a:p>
        </p:txBody>
      </p:sp>
      <p:sp>
        <p:nvSpPr>
          <p:cNvPr id="19" name="3D-card-191"/>
          <p:cNvSpPr/>
          <p:nvPr/>
        </p:nvSpPr>
        <p:spPr>
          <a:xfrm>
            <a:off x="6217920" y="1325880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0" name="3D-num4"/>
          <p:cNvSpPr/>
          <p:nvPr/>
        </p:nvSpPr>
        <p:spPr>
          <a:xfrm>
            <a:off x="644652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21" name="obj192"/>
          <p:cNvSpPr txBox="1"/>
          <p:nvPr/>
        </p:nvSpPr>
        <p:spPr>
          <a:xfrm>
            <a:off x="64465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obj193"/>
          <p:cNvSpPr txBox="1"/>
          <p:nvPr/>
        </p:nvSpPr>
        <p:spPr>
          <a:xfrm>
            <a:off x="7315200" y="14173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Alulról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Olajfolt, rozsdás fékcső és küszöb, szivárgó lengéscsillapító.</a:t>
            </a:r>
            <a:endParaRPr lang="en-US" sz="1400" dirty="0"/>
          </a:p>
        </p:txBody>
      </p:sp>
      <p:sp>
        <p:nvSpPr>
          <p:cNvPr id="23" name="3D-card-194"/>
          <p:cNvSpPr/>
          <p:nvPr/>
        </p:nvSpPr>
        <p:spPr>
          <a:xfrm>
            <a:off x="6217920" y="2542032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4" name="3D-num5"/>
          <p:cNvSpPr/>
          <p:nvPr/>
        </p:nvSpPr>
        <p:spPr>
          <a:xfrm>
            <a:off x="6446520" y="272491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25" name="obj195"/>
          <p:cNvSpPr txBox="1"/>
          <p:nvPr/>
        </p:nvSpPr>
        <p:spPr>
          <a:xfrm>
            <a:off x="644652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obj196"/>
          <p:cNvSpPr txBox="1"/>
          <p:nvPr/>
        </p:nvSpPr>
        <p:spPr>
          <a:xfrm>
            <a:off x="7315200" y="2633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Futómű-zörgés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Kátyún kopog? Gömbfej, stabilizátor, rugó.</a:t>
            </a:r>
            <a:endParaRPr lang="en-US" sz="1400" dirty="0"/>
          </a:p>
        </p:txBody>
      </p:sp>
      <p:sp>
        <p:nvSpPr>
          <p:cNvPr id="27" name="3D-card-197"/>
          <p:cNvSpPr/>
          <p:nvPr/>
        </p:nvSpPr>
        <p:spPr>
          <a:xfrm>
            <a:off x="6217920" y="3758184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28" name="3D-num6"/>
          <p:cNvSpPr/>
          <p:nvPr/>
        </p:nvSpPr>
        <p:spPr>
          <a:xfrm>
            <a:off x="6446520" y="394106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29" name="obj198"/>
          <p:cNvSpPr txBox="1"/>
          <p:nvPr/>
        </p:nvSpPr>
        <p:spPr>
          <a:xfrm>
            <a:off x="644652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</a:t>
            </a:r>
            <a:endParaRPr lang="en-US" sz="2000" dirty="0"/>
          </a:p>
        </p:txBody>
      </p:sp>
      <p:sp>
        <p:nvSpPr>
          <p:cNvPr id="30" name="obj199"/>
          <p:cNvSpPr txBox="1"/>
          <p:nvPr/>
        </p:nvSpPr>
        <p:spPr>
          <a:xfrm>
            <a:off x="7315200" y="384962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Elektronika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Üzemanyagszint, km-óra, ablakemelők, klíma; OBD-hibakód-olvasás.</a:t>
            </a:r>
            <a:endParaRPr lang="en-US" sz="1400" dirty="0"/>
          </a:p>
        </p:txBody>
      </p:sp>
      <p:sp>
        <p:nvSpPr>
          <p:cNvPr id="31" name="3D-card-200"/>
          <p:cNvSpPr/>
          <p:nvPr/>
        </p:nvSpPr>
        <p:spPr>
          <a:xfrm>
            <a:off x="6217920" y="4974336"/>
            <a:ext cx="54406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32" name="3D-num7"/>
          <p:cNvSpPr/>
          <p:nvPr/>
        </p:nvSpPr>
        <p:spPr>
          <a:xfrm>
            <a:off x="6446520" y="51572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sp>
        <p:nvSpPr>
          <p:cNvPr id="33" name="obj201"/>
          <p:cNvSpPr txBox="1"/>
          <p:nvPr/>
        </p:nvSpPr>
        <p:spPr>
          <a:xfrm>
            <a:off x="644652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</a:t>
            </a:r>
            <a:endParaRPr lang="en-US" sz="2000" dirty="0"/>
          </a:p>
        </p:txBody>
      </p:sp>
      <p:sp>
        <p:nvSpPr>
          <p:cNvPr id="34" name="obj202"/>
          <p:cNvSpPr txBox="1"/>
          <p:nvPr/>
        </p:nvSpPr>
        <p:spPr>
          <a:xfrm>
            <a:off x="7315200" y="50657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E-Tech Electric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Akkumulátor-állapot (SOH) jelentés, töltő- és garanciapapírok.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75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25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75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25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-disc"/>
          <p:cNvSpPr/>
          <p:nvPr/>
        </p:nvSpPr>
        <p:spPr>
          <a:xfrm>
            <a:off x="6309360" y="822960"/>
            <a:ext cx="5394960" cy="5394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scene3d>
            <a:camera prst="orthographicFront"/>
            <a:lightRig rig="threePt" dir="t"/>
          </a:scene3d>
          <a:sp3d prstMaterial="softEdge">
            <a:bevelT w="254000" h="101600" prst="relaxedInset"/>
          </a:sp3d>
        </p:spPr>
      </p:sp>
      <p:pic>
        <p:nvPicPr>
          <p:cNvPr id="3" name="!!car" descr="Renault Twingo 3D illusztráci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011680"/>
            <a:ext cx="6400800" cy="3615220"/>
          </a:xfrm>
          <a:prstGeom prst="rect">
            <a:avLst/>
          </a:prstGeom>
        </p:spPr>
      </p:pic>
      <p:sp>
        <p:nvSpPr>
          <p:cNvPr id="4" name="obj203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VÉGSŐ ÍTÉLET</a:t>
            </a:r>
            <a:endParaRPr lang="en-US" sz="1400" dirty="0"/>
          </a:p>
        </p:txBody>
      </p:sp>
      <p:sp>
        <p:nvSpPr>
          <p:cNvPr id="5" name="3DT-final"/>
          <p:cNvSpPr txBox="1"/>
          <p:nvPr/>
        </p:nvSpPr>
        <p:spPr>
          <a:xfrm>
            <a:off x="548640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bliqueBottomRight"/>
              <a:lightRig rig="balanced" dir="t"/>
            </a:scene3d>
            <a:sp3d extrusionH="63500" prstMaterial="plastic">
              <a:bevelT w="12700" h="12700"/>
              <a:extrusionClr>
                <a:srgbClr val="000000"/>
              </a:extrusionClr>
            </a:sp3d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Megéri? Igen – okosan választva.</a:t>
            </a:r>
            <a:endParaRPr lang="en-US" sz="3600" dirty="0"/>
          </a:p>
        </p:txBody>
      </p:sp>
      <p:sp>
        <p:nvSpPr>
          <p:cNvPr id="6" name="3D-dot-204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7" name="obj205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058668"/>
            <a:ext cx="329184" cy="329184"/>
          </a:xfrm>
          <a:prstGeom prst="rect">
            <a:avLst/>
          </a:prstGeom>
        </p:spPr>
      </p:pic>
      <p:sp>
        <p:nvSpPr>
          <p:cNvPr id="8" name="obj206"/>
          <p:cNvSpPr txBox="1"/>
          <p:nvPr/>
        </p:nvSpPr>
        <p:spPr>
          <a:xfrm>
            <a:off x="1463040" y="2788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Vedd meg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Twingo III 1.0 SCe 2016+ (ideálisan 2019+) vagy E-Tech Electric, szervizkönyvvel.</a:t>
            </a:r>
            <a:endParaRPr lang="en-US" sz="1600" dirty="0"/>
          </a:p>
        </p:txBody>
      </p:sp>
      <p:sp>
        <p:nvSpPr>
          <p:cNvPr id="9" name="3D-dot-207"/>
          <p:cNvSpPr/>
          <p:nvPr/>
        </p:nvSpPr>
        <p:spPr>
          <a:xfrm>
            <a:off x="548640" y="4069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0" name="obj208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247388"/>
            <a:ext cx="329184" cy="329184"/>
          </a:xfrm>
          <a:prstGeom prst="rect">
            <a:avLst/>
          </a:prstGeom>
        </p:spPr>
      </p:pic>
      <p:sp>
        <p:nvSpPr>
          <p:cNvPr id="11" name="obj209"/>
          <p:cNvSpPr txBox="1"/>
          <p:nvPr/>
        </p:nvSpPr>
        <p:spPr>
          <a:xfrm>
            <a:off x="1463040" y="3977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Gondold át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Twingo II és 0.9 TCe: csak alapos átvizsgálás után, jó áron.</a:t>
            </a:r>
            <a:endParaRPr lang="en-US" sz="1600" dirty="0"/>
          </a:p>
        </p:txBody>
      </p:sp>
      <p:sp>
        <p:nvSpPr>
          <p:cNvPr id="12" name="3D-dot-210"/>
          <p:cNvSpPr/>
          <p:nvPr/>
        </p:nvSpPr>
        <p:spPr>
          <a:xfrm>
            <a:off x="548640" y="52578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 prstMaterial="warmMatte">
            <a:bevelT w="139700" h="76200" prst="circle"/>
          </a:sp3d>
        </p:spPr>
      </p:sp>
      <p:pic>
        <p:nvPicPr>
          <p:cNvPr id="13" name="obj211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5436108"/>
            <a:ext cx="329184" cy="329184"/>
          </a:xfrm>
          <a:prstGeom prst="rect">
            <a:avLst/>
          </a:prstGeom>
        </p:spPr>
      </p:pic>
      <p:sp>
        <p:nvSpPr>
          <p:cNvPr id="14" name="obj212"/>
          <p:cNvSpPr txBox="1"/>
          <p:nvPr/>
        </p:nvSpPr>
        <p:spPr>
          <a:xfrm>
            <a:off x="1463040" y="5166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Kerüld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2014–2015-ös EDC automata, rozsdás Twingo I/II.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1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25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62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37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12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887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Források</a:t>
            </a:r>
            <a:endParaRPr lang="en-US" sz="3200" dirty="0"/>
          </a:p>
        </p:txBody>
      </p:sp>
      <p:sp>
        <p:nvSpPr>
          <p:cNvPr id="3" name="3D-card-213"/>
          <p:cNvSpPr/>
          <p:nvPr/>
        </p:nvSpPr>
        <p:spPr>
          <a:xfrm>
            <a:off x="548640" y="132588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 prstMaterial="plastic">
            <a:bevelT w="88900" h="31750" prst="softRound"/>
          </a:sp3d>
        </p:spPr>
      </p:sp>
      <p:sp>
        <p:nvSpPr>
          <p:cNvPr id="4" name="obj214"/>
          <p:cNvSpPr txBox="1"/>
          <p:nvPr/>
        </p:nvSpPr>
        <p:spPr>
          <a:xfrm>
            <a:off x="914400" y="1554480"/>
            <a:ext cx="103628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 BILD: TÜV-Report Renault Twingo – hohe Mängelquoten (2026) – autobild.de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t-online.de / AUTO BILD: TÜV-Mängelreport 2025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Autónavigátor.hu: Renault Twingo használtteszt · Totalcar: Szabad olcsó Twingót venni?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carchecker.pro és carreliabilityreport.com: Twingo Mk3 1.0 SCe megbízhatóság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Honest John: Renault Twingo (2014–) használtautó-értékelés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autopro.hu, autoszektor.hu: az új Twingo E-Tech ára és adatai (2026)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AutoScout24.hu, kocsi.hu: használt Twingo hirdetési árak (2026 ősz)</a:t>
            </a:r>
            <a:endParaRPr lang="en-US" sz="1600" dirty="0"/>
          </a:p>
        </p:txBody>
      </p:sp>
      <p:sp>
        <p:nvSpPr>
          <p:cNvPr id="5" name="obj215"/>
          <p:cNvSpPr txBox="1"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Az árak és költségek tájékoztató becslések; a 3D-autók stilizált illusztrációk, nem gyári modellek.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wingo Garage">
  <a:themeElements>
    <a:clrScheme name="Twingo Garage">
      <a:dk1>
        <a:srgbClr val="141519"/>
      </a:dk1>
      <a:lt1>
        <a:srgbClr val="F4F4F5"/>
      </a:lt1>
      <a:dk2>
        <a:srgbClr val="22242B"/>
      </a:dk2>
      <a:lt2>
        <a:srgbClr val="A1A6B0"/>
      </a:lt2>
      <a:accent1>
        <a:srgbClr val="FFB400"/>
      </a:accent1>
      <a:accent2>
        <a:srgbClr val="FF6B35"/>
      </a:accent2>
      <a:accent3>
        <a:srgbClr val="2EC4B6"/>
      </a:accent3>
      <a:accent4>
        <a:srgbClr val="EF5A5F"/>
      </a:accent4>
      <a:accent5>
        <a:srgbClr val="4C8DF6"/>
      </a:accent5>
      <a:accent6>
        <a:srgbClr val="2C2F37"/>
      </a:accent6>
      <a:hlink>
        <a:srgbClr val="FFB400"/>
      </a:hlink>
      <a:folHlink>
        <a:srgbClr val="FF6B35"/>
      </a:folHlink>
    </a:clrScheme>
    <a:fontScheme name="Twingo Gara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Renault Twingo – megbízhatóság és vásárlási kalauz</dc:title>
  <dc:subject>PptxGenJS Presentation</dc:subject>
  <dc:creator>Tony</dc:creator>
  <cp:lastModifiedBy>Tony</cp:lastModifiedBy>
  <cp:revision>1</cp:revision>
  <dcterms:created xsi:type="dcterms:W3CDTF">2026-10-03T21:33:17Z</dcterms:created>
  <dcterms:modified xsi:type="dcterms:W3CDTF">2026-10-03T21:33:17Z</dcterms:modified>
</cp:coreProperties>
</file>